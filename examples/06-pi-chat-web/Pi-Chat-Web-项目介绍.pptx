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13496d7cc8464a" /><Relationship Type="http://schemas.openxmlformats.org/package/2006/relationships/metadata/core-properties" Target="/docProps/core.xml" Id="R7d84a49bc49e41d9" /><Relationship Type="http://schemas.openxmlformats.org/officeDocument/2006/relationships/extended-properties" Target="/docProps/app.xml" Id="R82ff08aee0104c5c" /><Relationship Type="http://schemas.openxmlformats.org/officeDocument/2006/relationships/custom-properties" Target="/docProps/custom.xml" Id="R2460f59e2d0c450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3c1eee1b0244841"/>
  </p:notesMasterIdLst>
  <p:sldIdLst>
    <p:sldId id="256" r:id="R5f3429069cd3411c"/>
    <p:sldId id="257" r:id="R3b0ded5ec9d341b3"/>
    <p:sldId id="258" r:id="Rc6d21e76f5634dff"/>
    <p:sldId id="259" r:id="Re9a379cbb9e647a2"/>
    <p:sldId id="260" r:id="R07d515b24d6b43f8"/>
    <p:sldId id="261" r:id="R52ad4bd3521b4a18"/>
    <p:sldId id="262" r:id="R024c4d08aa2a4b10"/>
    <p:sldId id="263" r:id="Re0f16c9ead94488a"/>
    <p:sldId id="264" r:id="R1ccf54b2844e4915"/>
    <p:sldId id="265" r:id="R2e9472e93e634b6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f3429069cd3411c" /><Relationship Type="http://schemas.openxmlformats.org/officeDocument/2006/relationships/notesMaster" Target="/ppt/notesMasters/notesMaster1.xml" Id="R83c1eee1b0244841" /><Relationship Type="http://schemas.openxmlformats.org/officeDocument/2006/relationships/slide" Target="/ppt/slides/slide2.xml" Id="R3b0ded5ec9d341b3" /><Relationship Type="http://schemas.openxmlformats.org/officeDocument/2006/relationships/slide" Target="/ppt/slides/slide3.xml" Id="Rc6d21e76f5634dff" /><Relationship Type="http://schemas.openxmlformats.org/officeDocument/2006/relationships/slide" Target="/ppt/slides/slide4.xml" Id="Re9a379cbb9e647a2" /><Relationship Type="http://schemas.openxmlformats.org/officeDocument/2006/relationships/slide" Target="/ppt/slides/slide5.xml" Id="R07d515b24d6b43f8" /><Relationship Type="http://schemas.openxmlformats.org/officeDocument/2006/relationships/slide" Target="/ppt/slides/slide6.xml" Id="R52ad4bd3521b4a18" /><Relationship Type="http://schemas.openxmlformats.org/officeDocument/2006/relationships/slide" Target="/ppt/slides/slide7.xml" Id="R024c4d08aa2a4b10" /><Relationship Type="http://schemas.openxmlformats.org/officeDocument/2006/relationships/slide" Target="/ppt/slides/slide8.xml" Id="Re0f16c9ead94488a" /><Relationship Type="http://schemas.openxmlformats.org/officeDocument/2006/relationships/slide" Target="/ppt/slides/slide9.xml" Id="R1ccf54b2844e4915" /><Relationship Type="http://schemas.openxmlformats.org/officeDocument/2006/relationships/slide" Target="/ppt/slides/slide10.xml" Id="R2e9472e93e63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fe68fc19d74fd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817c653449b4f89" /><Relationship Type="http://schemas.openxmlformats.org/officeDocument/2006/relationships/slide" Target="/ppt/slides/slide1.xml" Id="Rcc72a51302d340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e395bf61934f4a" /><Relationship Type="http://schemas.openxmlformats.org/officeDocument/2006/relationships/slide" Target="/ppt/slides/slide2.xml" Id="Rdf2a4330942c4c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1813105f9441ed" /><Relationship Type="http://schemas.openxmlformats.org/officeDocument/2006/relationships/slide" Target="/ppt/slides/slide3.xml" Id="R932a05926a8949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29657f9056400a" /><Relationship Type="http://schemas.openxmlformats.org/officeDocument/2006/relationships/slide" Target="/ppt/slides/slide4.xml" Id="Rb99381b6d4d1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69da199f474eae" /><Relationship Type="http://schemas.openxmlformats.org/officeDocument/2006/relationships/slide" Target="/ppt/slides/slide5.xml" Id="Rd9e23e519109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39665e139f4a84" /><Relationship Type="http://schemas.openxmlformats.org/officeDocument/2006/relationships/slide" Target="/ppt/slides/slide6.xml" Id="R2691fe6fcf3241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62fa0c6bf548bb" /><Relationship Type="http://schemas.openxmlformats.org/officeDocument/2006/relationships/slide" Target="/ppt/slides/slide7.xml" Id="R60aaa133c55944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a5de31d5ce046cf" /><Relationship Type="http://schemas.openxmlformats.org/officeDocument/2006/relationships/slide" Target="/ppt/slides/slide8.xml" Id="R698d5de64db046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f928240d3943d2" /><Relationship Type="http://schemas.openxmlformats.org/officeDocument/2006/relationships/slide" Target="/ppt/slides/slide9.xml" Id="R08ade72db2e049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02ae46720084273" /><Relationship Type="http://schemas.openxmlformats.org/officeDocument/2006/relationships/slide" Target="/ppt/slides/slide10.xml" Id="Rd992957750f3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开场说明：这不是一个普通聊天框，而是把 Pi 的 Agent harness 能力完整搬到本地 Web 工作台。强调项目用于可信本机环境的产品演示与日常开发。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先建立定位差异：普通聊天产品只展示输入和输出；Pi Chat Web 把任务对话、工具执行、消息队列和上下文状态放在同一个产品界面中。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这一页按实际组件结构还原界面：左侧会话库，中间聊天时间线与 Warp Blocks 风格 Run Group，底部输入区，右侧 Harness 检查器。强调所有区域都围绕当前 Pi session。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先区分两套事件模型：AgentSessionEvent 是 Pi runtime 内部事件；ConversationService.onEvent 将其映射为面向 UI 的 StreamEvent。EventBuffer 负责排序、缓存、重放和订阅，SSE 把事件推到浏览器，snapshotReducer 最终更新 ConversationSnapshot。重连时使用 streamId 与 after；游标过期或 streamId 变化时要求重新获取快照。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强调两个维度：Runtime 是可回收的计算资源，JSONL Session 是持久历史；分支创建新的对话上下文，但共享父会话的代码 workspace。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演示 Run Group 如何压缩连续工具调用，并说明运行中三种操作：Steer 改变当前方向，Follow-up 排队到本轮之后，Stop 请求终止。模型与 thinking level 直接作用于同一个 session。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按三个标签讲解 Harness：活动用于追踪执行，Context 用于判断窗口和成本，设置用于控制自动维护与队列策略。它们都来自真实 session 状态，不是前端模拟值。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这一页先纠正对象边界：代码里没有一个包办所有状态的 Conversation 类。ConversationRecord 是持久化元数据；ActiveConversation 是按需加载的运行时容器；EventBuffer 是按 conversation id 管理的事件通道。三者通过相同 id 关联，由 ConversationService 协调，并在 snapshot() 中组装成前端使用的 ConversationSnapshot。特别指出：ActiveConversation 在 cold 状态会释放，但 Record、JSONL、Workspace 以及 channels 中的 EventBuffer 不随之删除。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这些数字来自本次实际执行：12 个测试文件、48 个测试用例全部通过；pnpm build 同时完成 TypeScript noEmit 检查和 Vite production build。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收尾时先强调安全边界，再按五步给出演示路径。最后总结：Pi Chat Web 的价值是让本地 Agent 运行变得可观察、可恢复、可控制。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da9f372f743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7a7fe798a4a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bb1fc8ecb4a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718706db34c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699acffc7440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93af52812314c0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2774f90414547" /><Relationship Type="http://schemas.openxmlformats.org/officeDocument/2006/relationships/notesSlide" Target="/ppt/notesSlides/notesSlide1.xml" Id="Reb957c650bcd4d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43327df4a4a5d" /><Relationship Type="http://schemas.openxmlformats.org/officeDocument/2006/relationships/notesSlide" Target="/ppt/notesSlides/notesSlide2.xml" Id="Reb8a989c0044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b2b52a93f4fe0" /><Relationship Type="http://schemas.openxmlformats.org/officeDocument/2006/relationships/notesSlide" Target="/ppt/notesSlides/notesSlide3.xml" Id="Re7f75cb8a8f3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1d3d874164192" /><Relationship Type="http://schemas.openxmlformats.org/officeDocument/2006/relationships/notesSlide" Target="/ppt/notesSlides/notesSlide4.xml" Id="R0574a81520a54b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ef06704874c54" /><Relationship Type="http://schemas.openxmlformats.org/officeDocument/2006/relationships/notesSlide" Target="/ppt/notesSlides/notesSlide5.xml" Id="R9b201ff9002b46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004c983b24196" /><Relationship Type="http://schemas.openxmlformats.org/officeDocument/2006/relationships/notesSlide" Target="/ppt/notesSlides/notesSlide6.xml" Id="Re3fc8d422e284e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24fa19d434a62" /><Relationship Type="http://schemas.openxmlformats.org/officeDocument/2006/relationships/notesSlide" Target="/ppt/notesSlides/notesSlide7.xml" Id="R787d1622b2134a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92fc46ee84b8b" /><Relationship Type="http://schemas.openxmlformats.org/officeDocument/2006/relationships/notesSlide" Target="/ppt/notesSlides/notesSlide8.xml" Id="Rd594e784c0374a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2b4b58c8a4382" /><Relationship Type="http://schemas.openxmlformats.org/officeDocument/2006/relationships/notesSlide" Target="/ppt/notesSlides/notesSlide9.xml" Id="R5718efda22a340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8768d15064aa7" /><Relationship Type="http://schemas.openxmlformats.org/officeDocument/2006/relationships/notesSlide" Target="/ppt/notesSlides/notesSlide10.xml" Id="R0d38463602774f29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0231F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nd"/>
          <p:cNvSpPr/>
          <p:nvPr/>
        </p:nvSpPr>
        <p:spPr>
          <a:xfrm xmlns:a="http://schemas.openxmlformats.org/drawingml/2006/main">
            <a:off x="0" y="0"/>
            <a:ext cx="121932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PiMark"/>
          <p:cNvSpPr/>
          <p:nvPr/>
        </p:nvSpPr>
        <p:spPr>
          <a:xfrm xmlns:a="http://schemas.openxmlformats.org/drawingml/2006/main">
            <a:off x="720000" y="1080000"/>
            <a:ext cx="1512000" cy="15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800" b="1">
                <a:solidFill>
                  <a:srgbClr val="276C4C"/>
                </a:solidFill>
                <a:latin typeface="Arial"/>
                <a:ea typeface="Arial"/>
              </a:rPr>
              <a:t>π</a:t>
            </a:r>
          </a:p>
        </p:txBody>
      </p:sp>
      <p:sp>
        <p:nvSpPr>
          <p:cNvPr id="100002" name="Eyebrow"/>
          <p:cNvSpPr txBox="1"/>
          <p:nvPr/>
        </p:nvSpPr>
        <p:spPr>
          <a:xfrm xmlns:a="http://schemas.openxmlformats.org/drawingml/2006/main">
            <a:off x="2592000" y="1116000"/>
            <a:ext cx="85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0D3A3"/>
                </a:solidFill>
                <a:latin typeface="Consolas"/>
                <a:ea typeface="Consolas"/>
              </a:rPr>
              <a:t>06 · PI TUTORIAL / WEB AGENT WORKBENCH</a:t>
            </a:r>
          </a:p>
        </p:txBody>
      </p:sp>
      <p:sp>
        <p:nvSpPr>
          <p:cNvPr id="100003" name="Title"/>
          <p:cNvSpPr txBox="1"/>
          <p:nvPr/>
        </p:nvSpPr>
        <p:spPr>
          <a:xfrm xmlns:a="http://schemas.openxmlformats.org/drawingml/2006/main">
            <a:off x="2592000" y="1512000"/>
            <a:ext cx="8568000" cy="9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Arial"/>
                <a:ea typeface="Arial"/>
              </a:rPr>
              <a:t>Pi Chat Web</a:t>
            </a:r>
          </a:p>
        </p:txBody>
      </p:sp>
      <p:sp>
        <p:nvSpPr>
          <p:cNvPr id="100004" name="Subtitle"/>
          <p:cNvSpPr txBox="1"/>
          <p:nvPr/>
        </p:nvSpPr>
        <p:spPr>
          <a:xfrm xmlns:a="http://schemas.openxmlformats.org/drawingml/2006/main">
            <a:off x="2592000" y="2592000"/>
            <a:ext cx="856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DCEBE2"/>
                </a:solidFill>
                <a:latin typeface="Arial"/>
                <a:ea typeface="Arial"/>
              </a:rPr>
              <a:t>把 Agent Harness 带到 Web</a:t>
            </a:r>
          </a:p>
        </p:txBody>
      </p:sp>
      <p:sp>
        <p:nvSpPr>
          <p:cNvPr id="100005" name="Descriptor"/>
          <p:cNvSpPr txBox="1"/>
          <p:nvPr/>
        </p:nvSpPr>
        <p:spPr>
          <a:xfrm xmlns:a="http://schemas.openxmlformats.org/drawingml/2006/main">
            <a:off x="2592000" y="3312000"/>
            <a:ext cx="8568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8C2BA"/>
                </a:solidFill>
                <a:latin typeface="Arial"/>
                <a:ea typeface="Arial"/>
              </a:rPr>
              <a:t>本地可信工作区 · 持久会话 · 实时工具执行 · 上下文检查</a:t>
            </a:r>
          </a:p>
        </p:txBody>
      </p:sp>
      <p:sp>
        <p:nvSpPr>
          <p:cNvPr id="100006" name="Meta"/>
          <p:cNvSpPr/>
          <p:nvPr/>
        </p:nvSpPr>
        <p:spPr>
          <a:xfrm xmlns:a="http://schemas.openxmlformats.org/drawingml/2006/main">
            <a:off x="720000" y="5292000"/>
            <a:ext cx="1075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2B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8"/>
          <p:cNvSpPr txBox="1"/>
          <p:nvPr/>
        </p:nvSpPr>
        <p:spPr>
          <a:xfrm xmlns:a="http://schemas.openxmlformats.org/drawingml/2006/main">
            <a:off x="936000" y="5490000"/>
            <a:ext cx="28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0D3A3"/>
                </a:solidFill>
                <a:latin typeface="Consolas"/>
                <a:ea typeface="Consolas"/>
              </a:rPr>
              <a:t>PROJECT PRESENTATION</a:t>
            </a:r>
          </a:p>
        </p:txBody>
      </p:sp>
      <p:sp>
        <p:nvSpPr>
          <p:cNvPr id="100008" name="TextBox 9"/>
          <p:cNvSpPr txBox="1"/>
          <p:nvPr/>
        </p:nvSpPr>
        <p:spPr>
          <a:xfrm xmlns:a="http://schemas.openxmlformats.org/drawingml/2006/main">
            <a:off x="3744000" y="5490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DCEBE2"/>
                </a:solidFill>
                <a:latin typeface="Consolas"/>
                <a:ea typeface="Consolas"/>
              </a:rPr>
              <a:t>pi-tutorial / examples / 06-pi-chat-web</a:t>
            </a:r>
          </a:p>
        </p:txBody>
      </p:sp>
      <p:sp>
        <p:nvSpPr>
          <p:cNvPr id="100009" name="TextBox 10"/>
          <p:cNvSpPr txBox="1"/>
          <p:nvPr/>
        </p:nvSpPr>
        <p:spPr>
          <a:xfrm xmlns:a="http://schemas.openxmlformats.org/drawingml/2006/main">
            <a:off x="9072000" y="5490000"/>
            <a:ext cx="2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400">
                <a:solidFill>
                  <a:srgbClr val="DCEBE2"/>
                </a:solidFill>
                <a:latin typeface="Consolas"/>
                <a:ea typeface="Consolas"/>
              </a:rPr>
              <a:t>2026-08-18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从聊天界面升级为 Agent 工作台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40000" y="1440000"/>
            <a:ext cx="4392000" cy="41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4"/>
          <p:cNvSpPr txBox="1"/>
          <p:nvPr/>
        </p:nvSpPr>
        <p:spPr>
          <a:xfrm xmlns:a="http://schemas.openxmlformats.org/drawingml/2006/main">
            <a:off x="828000" y="1692000"/>
            <a:ext cx="3816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687069"/>
                </a:solidFill>
                <a:latin typeface="Arial"/>
                <a:ea typeface="Arial"/>
              </a:rPr>
              <a:t>普通聊天界面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864000" y="2376000"/>
            <a:ext cx="3096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DFB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用户消息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1476000" y="3240000"/>
            <a:ext cx="309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DFB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模型回复</a:t>
            </a:r>
          </a:p>
        </p:txBody>
      </p:sp>
      <p:sp>
        <p:nvSpPr>
          <p:cNvPr id="100016" name="TextBox 7"/>
          <p:cNvSpPr txBox="1"/>
          <p:nvPr/>
        </p:nvSpPr>
        <p:spPr>
          <a:xfrm xmlns:a="http://schemas.openxmlformats.org/drawingml/2006/main">
            <a:off x="828000" y="4716000"/>
            <a:ext cx="381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687069"/>
                </a:solidFill>
                <a:latin typeface="Arial"/>
                <a:ea typeface="Arial"/>
              </a:rPr>
              <a:t>对话可见，执行过程不可见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5256000" y="3096000"/>
            <a:ext cx="1224000" cy="79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6804000" y="1440000"/>
            <a:ext cx="4849200" cy="41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TextBox 10"/>
          <p:cNvSpPr txBox="1"/>
          <p:nvPr/>
        </p:nvSpPr>
        <p:spPr>
          <a:xfrm xmlns:a="http://schemas.openxmlformats.org/drawingml/2006/main">
            <a:off x="7128000" y="1692000"/>
            <a:ext cx="4212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Pi Chat Web</a:t>
            </a:r>
          </a:p>
        </p:txBody>
      </p:sp>
      <p:sp>
        <p:nvSpPr>
          <p:cNvPr id="100020" name="TextBox 11"/>
          <p:cNvSpPr txBox="1"/>
          <p:nvPr/>
        </p:nvSpPr>
        <p:spPr>
          <a:xfrm xmlns:a="http://schemas.openxmlformats.org/drawingml/2006/main">
            <a:off x="7236000" y="2412000"/>
            <a:ext cx="399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任务对话</a:t>
            </a:r>
          </a:p>
        </p:txBody>
      </p:sp>
      <p:sp>
        <p:nvSpPr>
          <p:cNvPr id="100021" name="TextBox 12"/>
          <p:cNvSpPr txBox="1"/>
          <p:nvPr/>
        </p:nvSpPr>
        <p:spPr>
          <a:xfrm xmlns:a="http://schemas.openxmlformats.org/drawingml/2006/main">
            <a:off x="7236000" y="3240000"/>
            <a:ext cx="399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93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DCEBE2"/>
                </a:solidFill>
                <a:latin typeface="Arial"/>
                <a:ea typeface="Arial"/>
              </a:rPr>
              <a:t>工具执行与队列</a:t>
            </a:r>
          </a:p>
        </p:txBody>
      </p:sp>
      <p:sp>
        <p:nvSpPr>
          <p:cNvPr id="100022" name="TextBox 13"/>
          <p:cNvSpPr txBox="1"/>
          <p:nvPr/>
        </p:nvSpPr>
        <p:spPr>
          <a:xfrm xmlns:a="http://schemas.openxmlformats.org/drawingml/2006/main">
            <a:off x="7236000" y="4068000"/>
            <a:ext cx="3996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93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DCEBE2"/>
                </a:solidFill>
                <a:latin typeface="Arial"/>
                <a:ea typeface="Arial"/>
              </a:rPr>
              <a:t>上下文与运行状态</a:t>
            </a:r>
          </a:p>
        </p:txBody>
      </p:sp>
      <p:sp>
        <p:nvSpPr>
          <p:cNvPr id="100023" name="TextBox 14"/>
          <p:cNvSpPr txBox="1"/>
          <p:nvPr/>
        </p:nvSpPr>
        <p:spPr>
          <a:xfrm xmlns:a="http://schemas.openxmlformats.org/drawingml/2006/main">
            <a:off x="7128000" y="4896000"/>
            <a:ext cx="421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B8C2BA"/>
                </a:solidFill>
                <a:latin typeface="Arial"/>
                <a:ea typeface="Arial"/>
              </a:rPr>
              <a:t>会话、执行、状态在同一工作台闭环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界面把会话主线与执行细节同时呈现</a:t>
            </a:r>
          </a:p>
        </p:txBody>
      </p:sp>
      <p:sp>
        <p:nvSpPr>
          <p:cNvPr id="100026" name="TextBox 3"/>
          <p:cNvSpPr/>
          <p:nvPr/>
        </p:nvSpPr>
        <p:spPr>
          <a:xfrm xmlns:a="http://schemas.openxmlformats.org/drawingml/2006/main">
            <a:off x="540000" y="1260000"/>
            <a:ext cx="111132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TextBox 4"/>
          <p:cNvSpPr/>
          <p:nvPr/>
        </p:nvSpPr>
        <p:spPr>
          <a:xfrm xmlns:a="http://schemas.openxmlformats.org/drawingml/2006/main">
            <a:off x="648000" y="1368000"/>
            <a:ext cx="2052000" cy="47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TextBox 5"/>
          <p:cNvSpPr txBox="1"/>
          <p:nvPr/>
        </p:nvSpPr>
        <p:spPr>
          <a:xfrm xmlns:a="http://schemas.openxmlformats.org/drawingml/2006/main">
            <a:off x="828000" y="1548000"/>
            <a:ext cx="169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76C4C"/>
                </a:solidFill>
                <a:latin typeface="Consolas"/>
                <a:ea typeface="Consolas"/>
              </a:rPr>
              <a:t>PI CHAT</a:t>
            </a:r>
          </a:p>
        </p:txBody>
      </p:sp>
      <p:sp>
        <p:nvSpPr>
          <p:cNvPr id="100029" name="TextBox 6"/>
          <p:cNvSpPr txBox="1"/>
          <p:nvPr/>
        </p:nvSpPr>
        <p:spPr>
          <a:xfrm xmlns:a="http://schemas.openxmlformats.org/drawingml/2006/main">
            <a:off x="792000" y="2016000"/>
            <a:ext cx="1764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76C4C"/>
                </a:solidFill>
                <a:latin typeface="Arial"/>
                <a:ea typeface="Arial"/>
              </a:rPr>
              <a:t>当前会话</a:t>
            </a:r>
          </a:p>
        </p:txBody>
      </p:sp>
      <p:sp>
        <p:nvSpPr>
          <p:cNvPr id="100030" name="TextBox 7"/>
          <p:cNvSpPr txBox="1"/>
          <p:nvPr/>
        </p:nvSpPr>
        <p:spPr>
          <a:xfrm xmlns:a="http://schemas.openxmlformats.org/drawingml/2006/main">
            <a:off x="828000" y="2736000"/>
            <a:ext cx="1656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</a:pPr>
            <a:r>
              <a:rPr lang="en-US" sz="1600">
                <a:solidFill>
                  <a:srgbClr val="687069"/>
                </a:solidFill>
                <a:latin typeface="Arial"/>
                <a:ea typeface="Arial"/>
              </a:rPr>
              <a:t>历史会话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600">
                <a:solidFill>
                  <a:srgbClr val="687069"/>
                </a:solidFill>
                <a:latin typeface="Arial"/>
                <a:ea typeface="Arial"/>
              </a:rPr>
              <a:t>分支会话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600">
                <a:solidFill>
                  <a:srgbClr val="687069"/>
                </a:solidFill>
                <a:latin typeface="Arial"/>
                <a:ea typeface="Arial"/>
              </a:rPr>
              <a:t>导入 Session</a:t>
            </a:r>
          </a:p>
        </p:txBody>
      </p:sp>
      <p:sp>
        <p:nvSpPr>
          <p:cNvPr id="100031" name="TextBox 8"/>
          <p:cNvSpPr/>
          <p:nvPr/>
        </p:nvSpPr>
        <p:spPr>
          <a:xfrm xmlns:a="http://schemas.openxmlformats.org/drawingml/2006/main">
            <a:off x="2772000" y="1368000"/>
            <a:ext cx="5796000" cy="47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extBox 9"/>
          <p:cNvSpPr txBox="1"/>
          <p:nvPr/>
        </p:nvSpPr>
        <p:spPr>
          <a:xfrm xmlns:a="http://schemas.openxmlformats.org/drawingml/2006/main">
            <a:off x="2772000" y="1368000"/>
            <a:ext cx="5796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6000" tIns="126000" rIns="126000" bIns="126000" anchor="ctr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B514C"/>
                </a:solidFill>
                <a:latin typeface="Consolas"/>
                <a:ea typeface="Consolas"/>
              </a:rPr>
              <a:t>workspace / local        Live · Harness</a:t>
            </a:r>
          </a:p>
        </p:txBody>
      </p:sp>
      <p:sp>
        <p:nvSpPr>
          <p:cNvPr id="100033" name="TextBox 10"/>
          <p:cNvSpPr/>
          <p:nvPr/>
        </p:nvSpPr>
        <p:spPr>
          <a:xfrm xmlns:a="http://schemas.openxmlformats.org/drawingml/2006/main">
            <a:off x="5040000" y="2088000"/>
            <a:ext cx="3168000" cy="5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0231F"/>
                </a:solidFill>
                <a:latin typeface="Arial"/>
                <a:ea typeface="Arial"/>
              </a:rPr>
              <a:t>请创建一个小型项目</a:t>
            </a:r>
          </a:p>
        </p:txBody>
      </p:sp>
      <p:sp>
        <p:nvSpPr>
          <p:cNvPr id="100034" name="TextBox 11"/>
          <p:cNvSpPr txBox="1"/>
          <p:nvPr/>
        </p:nvSpPr>
        <p:spPr>
          <a:xfrm xmlns:a="http://schemas.openxmlformats.org/drawingml/2006/main">
            <a:off x="3096000" y="2880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Pi 正在分析并执行任务…</a:t>
            </a:r>
          </a:p>
        </p:txBody>
      </p:sp>
      <p:sp>
        <p:nvSpPr>
          <p:cNvPr id="100035" name="TextBox 12"/>
          <p:cNvSpPr/>
          <p:nvPr/>
        </p:nvSpPr>
        <p:spPr>
          <a:xfrm xmlns:a="http://schemas.openxmlformats.org/drawingml/2006/main">
            <a:off x="3096000" y="3348000"/>
            <a:ext cx="5148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12700">
            <a:solidFill>
              <a:srgbClr val="D9DDD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6" name="TextBox 13"/>
          <p:cNvSpPr txBox="1"/>
          <p:nvPr/>
        </p:nvSpPr>
        <p:spPr>
          <a:xfrm xmlns:a="http://schemas.openxmlformats.org/drawingml/2006/main">
            <a:off x="3204000" y="3474000"/>
            <a:ext cx="72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276C4C"/>
                </a:solidFill>
                <a:latin typeface="Consolas"/>
                <a:ea typeface="Consolas"/>
              </a:rPr>
              <a:t>RUN 01</a:t>
            </a:r>
          </a:p>
        </p:txBody>
      </p:sp>
      <p:sp>
        <p:nvSpPr>
          <p:cNvPr id="100037" name="TextBox 14"/>
          <p:cNvSpPr txBox="1"/>
          <p:nvPr/>
        </p:nvSpPr>
        <p:spPr>
          <a:xfrm xmlns:a="http://schemas.openxmlformats.org/drawingml/2006/main">
            <a:off x="3240000" y="3888000"/>
            <a:ext cx="4608000" cy="88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</a:pPr>
            <a:r>
              <a:rPr lang="en-US" sz="1400">
                <a:solidFill>
                  <a:srgbClr val="4B514C"/>
                </a:solidFill>
                <a:latin typeface="Consolas"/>
                <a:ea typeface="Consolas"/>
              </a:rPr>
              <a:t>bash   ✓ 安装依赖</a:t>
            </a:r>
          </a:p>
          <a:p xmlns:a="http://schemas.openxmlformats.org/drawingml/2006/main">
            <a:pPr>
              <a:lnSpc>
                <a:spcPct val="120000"/>
              </a:lnSpc>
            </a:pPr>
            <a:r>
              <a:rPr lang="en-US" sz="1400">
                <a:solidFill>
                  <a:srgbClr val="4B514C"/>
                </a:solidFill>
                <a:latin typeface="Consolas"/>
                <a:ea typeface="Consolas"/>
              </a:rPr>
              <a:t>edit   ✓ 更新 App.tsx</a:t>
            </a:r>
          </a:p>
          <a:p xmlns:a="http://schemas.openxmlformats.org/drawingml/2006/main">
            <a:pPr>
              <a:lnSpc>
                <a:spcPct val="120000"/>
              </a:lnSpc>
            </a:pPr>
            <a:r>
              <a:rPr lang="en-US" sz="1400">
                <a:solidFill>
                  <a:srgbClr val="4B514C"/>
                </a:solidFill>
                <a:latin typeface="Consolas"/>
                <a:ea typeface="Consolas"/>
              </a:rPr>
              <a:t>bash   ✓ 运行测试</a:t>
            </a:r>
          </a:p>
        </p:txBody>
      </p:sp>
      <p:sp>
        <p:nvSpPr>
          <p:cNvPr id="100038" name="TextBox 15"/>
          <p:cNvSpPr/>
          <p:nvPr/>
        </p:nvSpPr>
        <p:spPr>
          <a:xfrm xmlns:a="http://schemas.openxmlformats.org/drawingml/2006/main">
            <a:off x="3096000" y="5148000"/>
            <a:ext cx="5148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687069"/>
                </a:solidFill>
                <a:latin typeface="Arial"/>
                <a:ea typeface="Arial"/>
              </a:rPr>
              <a:t>输入消息 · 附件 · 模型 · Thinking · 发送</a:t>
            </a:r>
          </a:p>
        </p:txBody>
      </p:sp>
      <p:sp>
        <p:nvSpPr>
          <p:cNvPr id="100039" name="TextBox 16"/>
          <p:cNvSpPr/>
          <p:nvPr/>
        </p:nvSpPr>
        <p:spPr>
          <a:xfrm xmlns:a="http://schemas.openxmlformats.org/drawingml/2006/main">
            <a:off x="8640000" y="1368000"/>
            <a:ext cx="2905200" cy="47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TextBox 17"/>
          <p:cNvSpPr txBox="1"/>
          <p:nvPr/>
        </p:nvSpPr>
        <p:spPr>
          <a:xfrm xmlns:a="http://schemas.openxmlformats.org/drawingml/2006/main">
            <a:off x="8892000" y="1584000"/>
            <a:ext cx="241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76C4C"/>
                </a:solidFill>
                <a:latin typeface="Consolas"/>
                <a:ea typeface="Consolas"/>
              </a:rPr>
              <a:t>HARNESS 检查器</a:t>
            </a:r>
          </a:p>
        </p:txBody>
      </p:sp>
      <p:sp>
        <p:nvSpPr>
          <p:cNvPr id="100041" name="TextBox 18"/>
          <p:cNvSpPr txBox="1"/>
          <p:nvPr/>
        </p:nvSpPr>
        <p:spPr>
          <a:xfrm xmlns:a="http://schemas.openxmlformats.org/drawingml/2006/main">
            <a:off x="8892000" y="2196000"/>
            <a:ext cx="2304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活动</a:t>
            </a:r>
          </a:p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工具与队列时间线</a:t>
            </a:r>
          </a:p>
        </p:txBody>
      </p:sp>
      <p:sp>
        <p:nvSpPr>
          <p:cNvPr id="100042" name="TextBox 19"/>
          <p:cNvSpPr txBox="1"/>
          <p:nvPr/>
        </p:nvSpPr>
        <p:spPr>
          <a:xfrm xmlns:a="http://schemas.openxmlformats.org/drawingml/2006/main">
            <a:off x="8892000" y="3240000"/>
            <a:ext cx="2304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上下文</a:t>
            </a:r>
          </a:p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Token · 费用 · 压缩</a:t>
            </a:r>
          </a:p>
        </p:txBody>
      </p:sp>
      <p:sp>
        <p:nvSpPr>
          <p:cNvPr id="100043" name="TextBox 20"/>
          <p:cNvSpPr txBox="1"/>
          <p:nvPr/>
        </p:nvSpPr>
        <p:spPr>
          <a:xfrm xmlns:a="http://schemas.openxmlformats.org/drawingml/2006/main">
            <a:off x="8892000" y="4284000"/>
            <a:ext cx="2304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设置</a:t>
            </a:r>
          </a:p>
          <a:p xmlns:a="http://schemas.openxmlformats.org/drawingml/2006/main">
            <a:r>
              <a:rPr lang="en-US" sz="1700" b="1">
                <a:solidFill>
                  <a:srgbClr val="20231F"/>
                </a:solidFill>
                <a:latin typeface="Arial"/>
                <a:ea typeface="Arial"/>
              </a:rPr>
              <a:t>自动重试 · 队列消费</a:t>
            </a:r>
          </a:p>
        </p:txBody>
      </p:sp>
      <p:sp>
        <p:nvSpPr>
          <p:cNvPr id="100044" name="TextBox 21"/>
          <p:cNvSpPr txBox="1"/>
          <p:nvPr/>
        </p:nvSpPr>
        <p:spPr>
          <a:xfrm xmlns:a="http://schemas.openxmlformats.org/drawingml/2006/main">
            <a:off x="8856000" y="5292000"/>
            <a:ext cx="2448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12700">
            <a:solidFill>
              <a:srgbClr val="B7791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7A4E11"/>
                </a:solidFill>
                <a:latin typeface="Arial"/>
                <a:ea typeface="Arial"/>
              </a:rPr>
              <a:t>本机可信环境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045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00046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Agent 事件如何变成前端状态</a:t>
            </a:r>
          </a:p>
        </p:txBody>
      </p:sp>
      <p:sp>
        <p:nvSpPr>
          <p:cNvPr id="100149" name="TextBox 3"/>
          <p:cNvSpPr txBox="1"/>
          <p:nvPr/>
        </p:nvSpPr>
        <p:spPr>
          <a:xfrm>
            <a:off x="720000" y="1188000"/>
            <a:ext cx="10753200" cy="450000"/>
          </a:xfrm>
          <a:prstGeom prst="rect">
            <a:avLst/>
          </a:prstGeom>
          <a:solidFill>
            <a:srgbClr val="FFF3D8"/>
          </a:solidFill>
          <a:ln w="12700">
            <a:solidFill>
              <a:srgbClr val="B7791F"/>
            </a:solidFill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7A4E11"/>
                </a:solidFill>
                <a:latin typeface="Arial"/>
                <a:ea typeface="Arial"/>
              </a:rPr>
              <a:t>同一动作经过两套事件模型：内部事件不会直接暴露给前端</a:t>
            </a:r>
          </a:p>
        </p:txBody>
      </p:sp>
      <p:sp>
        <p:nvSpPr>
          <p:cNvPr id="100150" name="EventInternal"/>
          <p:cNvSpPr/>
          <p:nvPr/>
        </p:nvSpPr>
        <p:spPr>
          <a:xfrm>
            <a:off x="540000" y="2016000"/>
            <a:ext cx="2664000" cy="1620000"/>
          </a:xfrm>
          <a:prstGeom prst="roundRect">
            <a:avLst/>
          </a:prstGeom>
          <a:solidFill>
            <a:srgbClr val="20231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AgentSessionEvent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Pi Runtime 内部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agent / entry / tool / queue</a:t>
            </a:r>
          </a:p>
        </p:txBody>
      </p:sp>
      <p:sp>
        <p:nvSpPr>
          <p:cNvPr id="100151" name="EventMapper"/>
          <p:cNvSpPr/>
          <p:nvPr/>
        </p:nvSpPr>
        <p:spPr>
          <a:xfrm>
            <a:off x="3384000" y="2016000"/>
            <a:ext cx="2088000" cy="1620000"/>
          </a:xfrm>
          <a:prstGeom prst="roundRect">
            <a:avLst/>
          </a:prstGeom>
          <a:solidFill>
            <a:srgbClr val="276C4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onEvent()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语义映射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→ StreamEvent</a:t>
            </a:r>
          </a:p>
        </p:txBody>
      </p:sp>
      <p:sp>
        <p:nvSpPr>
          <p:cNvPr id="100152" name="EventBuffer"/>
          <p:cNvSpPr/>
          <p:nvPr/>
        </p:nvSpPr>
        <p:spPr>
          <a:xfrm>
            <a:off x="5652000" y="2016000"/>
            <a:ext cx="2628000" cy="1620000"/>
          </a:xfrm>
          <a:prstGeom prst="roundRect">
            <a:avLst/>
          </a:prstGeom>
          <a:solidFill>
            <a:srgbClr val="DCEBE2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76C4C"/>
                </a:solidFill>
                <a:latin typeface="Arial"/>
                <a:ea typeface="Arial"/>
              </a:rPr>
              <a:t>EventBuffer</a:t>
            </a:r>
          </a:p>
          <a:p>
            <a:pPr algn="ctr"/>
            <a:r>
              <a:rPr lang="en-US" sz="1800" b="1">
                <a:solidFill>
                  <a:srgbClr val="276C4C"/>
                </a:solidFill>
                <a:latin typeface="Arial"/>
                <a:ea typeface="Arial"/>
              </a:rPr>
              <a:t>StreamEvent</a:t>
            </a:r>
          </a:p>
          <a:p>
            <a:pPr algn="ctr"/>
            <a:r>
              <a:rPr lang="en-US" sz="1800" b="1">
                <a:solidFill>
                  <a:srgbClr val="276C4C"/>
                </a:solidFill>
                <a:latin typeface="Arial"/>
                <a:ea typeface="Arial"/>
              </a:rPr>
              <a:t>id · streamId · type · payload</a:t>
            </a:r>
          </a:p>
        </p:txBody>
      </p:sp>
      <p:sp>
        <p:nvSpPr>
          <p:cNvPr id="100153" name="EventReducer"/>
          <p:cNvSpPr/>
          <p:nvPr/>
        </p:nvSpPr>
        <p:spPr>
          <a:xfrm>
            <a:off x="8460000" y="2016000"/>
            <a:ext cx="3193200" cy="1620000"/>
          </a:xfrm>
          <a:prstGeom prst="roundRect">
            <a:avLst/>
          </a:prstGeom>
          <a:solidFill>
            <a:srgbClr val="20231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SSE + snapshotReducer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replay / subscribe</a:t>
            </a:r>
          </a:p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按事件更新前端状态</a:t>
            </a:r>
          </a:p>
        </p:txBody>
      </p:sp>
      <p:sp>
        <p:nvSpPr>
          <p:cNvPr id="100154" name="EventSnapshot"/>
          <p:cNvSpPr txBox="1"/>
          <p:nvPr/>
        </p:nvSpPr>
        <p:spPr>
          <a:xfrm>
            <a:off x="1800000" y="4464000"/>
            <a:ext cx="8593200" cy="1134000"/>
          </a:xfrm>
          <a:prstGeom prst="rect">
            <a:avLst/>
          </a:prstGeom>
          <a:solidFill>
            <a:srgbClr val="E9ECE7"/>
          </a:solidFill>
          <a:ln w="12700">
            <a:solidFill>
              <a:srgbClr val="DADDD7"/>
            </a:solidFill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20231F"/>
                </a:solidFill>
                <a:latin typeface="Arial"/>
                <a:ea typeface="Arial"/>
              </a:rPr>
              <a:t>ConversationSnapshot</a:t>
            </a:r>
          </a:p>
          <a:p>
            <a:pPr algn="ctr"/>
            <a:r>
              <a:rPr lang="en-US" sz="2000" b="1">
                <a:solidFill>
                  <a:srgbClr val="20231F"/>
                </a:solidFill>
                <a:latin typeface="Arial"/>
                <a:ea typeface="Arial"/>
              </a:rPr>
              <a:t>messages · tools · queue · status · activity · stream.lastEventId</a:t>
            </a:r>
          </a:p>
        </p:txBody>
      </p:sp>
      <p:cxnSp>
        <p:nvCxnSpPr>
          <p:cNvPr id="100155" name="Connector 1"/>
          <p:cNvCxnSpPr>
            <a:stCxn id="100150" idx="0"/>
            <a:endCxn id="100151" idx="0"/>
          </p:cNvCxnSpPr>
          <p:nvPr/>
        </p:nvCxnSpPr>
        <p:spPr>
          <a:xfrm flipH="0" flipV="0">
            <a:off x="3204000" y="2826000"/>
            <a:ext cx="180000" cy="0"/>
          </a:xfrm>
          <a:prstGeom prst="straightConnector1">
            <a:avLst/>
          </a:prstGeom>
          <a:ln w="19050">
            <a:solidFill>
              <a:srgbClr val="687069"/>
            </a:solidFill>
            <a:tailEnd type="triangle"/>
          </a:ln>
        </p:spPr>
      </p:cxnSp>
      <p:cxnSp>
        <p:nvCxnSpPr>
          <p:cNvPr id="100156" name="Connector 2"/>
          <p:cNvCxnSpPr>
            <a:stCxn id="100151" idx="0"/>
            <a:endCxn id="100152" idx="0"/>
          </p:cNvCxnSpPr>
          <p:nvPr/>
        </p:nvCxnSpPr>
        <p:spPr>
          <a:xfrm flipH="0" flipV="0">
            <a:off x="5472000" y="2826000"/>
            <a:ext cx="180000" cy="0"/>
          </a:xfrm>
          <a:prstGeom prst="straightConnector1">
            <a:avLst/>
          </a:prstGeom>
          <a:ln w="19050">
            <a:solidFill>
              <a:srgbClr val="687069"/>
            </a:solidFill>
            <a:tailEnd type="triangle"/>
          </a:ln>
        </p:spPr>
      </p:cxnSp>
      <p:cxnSp>
        <p:nvCxnSpPr>
          <p:cNvPr id="100157" name="Connector 3"/>
          <p:cNvCxnSpPr>
            <a:stCxn id="100152" idx="0"/>
            <a:endCxn id="100153" idx="0"/>
          </p:cNvCxnSpPr>
          <p:nvPr/>
        </p:nvCxnSpPr>
        <p:spPr>
          <a:xfrm flipH="0" flipV="0">
            <a:off x="8280000" y="2826000"/>
            <a:ext cx="180000" cy="0"/>
          </a:xfrm>
          <a:prstGeom prst="straightConnector1">
            <a:avLst/>
          </a:prstGeom>
          <a:ln w="19050">
            <a:solidFill>
              <a:srgbClr val="687069"/>
            </a:solidFill>
            <a:tailEnd type="triangle"/>
          </a:ln>
        </p:spPr>
      </p:cxnSp>
      <p:cxnSp>
        <p:nvCxnSpPr>
          <p:cNvPr id="100158" name="Connector 4"/>
          <p:cNvCxnSpPr>
            <a:stCxn id="100153" idx="0"/>
            <a:endCxn id="100154" idx="0"/>
          </p:cNvCxnSpPr>
          <p:nvPr/>
        </p:nvCxnSpPr>
        <p:spPr>
          <a:xfrm flipH="1" flipV="0">
            <a:off x="6096600" y="3636000"/>
            <a:ext cx="3960000" cy="828000"/>
          </a:xfrm>
          <a:prstGeom prst="straightConnector1">
            <a:avLst/>
          </a:prstGeom>
          <a:ln w="19050">
            <a:solidFill>
              <a:srgbClr val="687069"/>
            </a:solidFill>
            <a:tailEnd type="triangle"/>
          </a:ln>
        </p:spPr>
      </p:cxnSp>
      <p:sp>
        <p:nvSpPr>
          <p:cNvPr id="100159" name="TextBox 9"/>
          <p:cNvSpPr txBox="1"/>
          <p:nvPr/>
        </p:nvSpPr>
        <p:spPr>
          <a:xfrm>
            <a:off x="1080000" y="5850000"/>
            <a:ext cx="10033200" cy="396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重连：streamId + after 重放；游标过期时触发 snapshot.required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00059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会话持久化与 Runtime 生命周期解耦</a:t>
            </a:r>
          </a:p>
        </p:txBody>
      </p:sp>
      <p:sp>
        <p:nvSpPr>
          <p:cNvPr id="100060" name="Life1"/>
          <p:cNvSpPr/>
          <p:nvPr/>
        </p:nvSpPr>
        <p:spPr>
          <a:xfrm xmlns:a="http://schemas.openxmlformats.org/drawingml/2006/main">
            <a:off x="828000" y="2232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创建</a:t>
            </a:r>
          </a:p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Session</a:t>
            </a:r>
          </a:p>
        </p:txBody>
      </p:sp>
      <p:sp>
        <p:nvSpPr>
          <p:cNvPr id="100061" name="Life2"/>
          <p:cNvSpPr/>
          <p:nvPr/>
        </p:nvSpPr>
        <p:spPr>
          <a:xfrm xmlns:a="http://schemas.openxmlformats.org/drawingml/2006/main">
            <a:off x="3672000" y="2232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活跃</a:t>
            </a:r>
          </a:p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Runtime</a:t>
            </a:r>
          </a:p>
        </p:txBody>
      </p:sp>
      <p:sp>
        <p:nvSpPr>
          <p:cNvPr id="100062" name="Life3"/>
          <p:cNvSpPr/>
          <p:nvPr/>
        </p:nvSpPr>
        <p:spPr>
          <a:xfrm xmlns:a="http://schemas.openxmlformats.org/drawingml/2006/main">
            <a:off x="6516000" y="2232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276C4C"/>
                </a:solidFill>
                <a:latin typeface="Arial"/>
                <a:ea typeface="Arial"/>
              </a:rPr>
              <a:t>空闲释放</a:t>
            </a:r>
          </a:p>
          <a:p xmlns:a="http://schemas.openxmlformats.org/drawingml/2006/main">
            <a:pPr algn="ctr"/>
            <a:r>
              <a:rPr lang="en-US" sz="1900" b="1">
                <a:solidFill>
                  <a:srgbClr val="276C4C"/>
                </a:solidFill>
                <a:latin typeface="Arial"/>
                <a:ea typeface="Arial"/>
              </a:rPr>
              <a:t>Cold</a:t>
            </a:r>
          </a:p>
        </p:txBody>
      </p:sp>
      <p:sp>
        <p:nvSpPr>
          <p:cNvPr id="100063" name="Life4"/>
          <p:cNvSpPr/>
          <p:nvPr/>
        </p:nvSpPr>
        <p:spPr>
          <a:xfrm xmlns:a="http://schemas.openxmlformats.org/drawingml/2006/main">
            <a:off x="9360000" y="2232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恢复</a:t>
            </a:r>
          </a:p>
          <a:p xmlns:a="http://schemas.openxmlformats.org/drawingml/2006/main">
            <a:pPr algn="ct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继续</a:t>
            </a:r>
          </a:p>
        </p:txBody>
      </p:sp>
      <p:cxnSp>
        <p:nvCxnSpPr>
          <p:cNvPr id="100064" name="Connector 1"/>
          <p:cNvCxnSpPr>
            <a:stCxn xmlns:a="http://schemas.openxmlformats.org/drawingml/2006/main" id="100060" idx="0"/>
            <a:endCxn xmlns:a="http://schemas.openxmlformats.org/drawingml/2006/main" id="100061" idx="0"/>
          </p:cNvCxnSpPr>
          <p:nvPr/>
        </p:nvCxnSpPr>
        <p:spPr>
          <a:xfrm xmlns:a="http://schemas.openxmlformats.org/drawingml/2006/main">
            <a:off x="2268000" y="2952000"/>
            <a:ext cx="140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069"/>
            </a:solidFill>
            <a:tailEnd type="triangle"/>
          </a:ln>
        </p:spPr>
      </p:cxnSp>
      <p:cxnSp>
        <p:nvCxnSpPr>
          <p:cNvPr id="100065" name="Connector 2"/>
          <p:cNvCxnSpPr>
            <a:stCxn xmlns:a="http://schemas.openxmlformats.org/drawingml/2006/main" id="100061" idx="0"/>
            <a:endCxn xmlns:a="http://schemas.openxmlformats.org/drawingml/2006/main" id="100062" idx="0"/>
          </p:cNvCxnSpPr>
          <p:nvPr/>
        </p:nvCxnSpPr>
        <p:spPr>
          <a:xfrm xmlns:a="http://schemas.openxmlformats.org/drawingml/2006/main">
            <a:off x="5112000" y="2952000"/>
            <a:ext cx="140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069"/>
            </a:solidFill>
            <a:tailEnd type="triangle"/>
          </a:ln>
        </p:spPr>
      </p:cxnSp>
      <p:cxnSp>
        <p:nvCxnSpPr>
          <p:cNvPr id="100066" name="Connector 3"/>
          <p:cNvCxnSpPr>
            <a:stCxn xmlns:a="http://schemas.openxmlformats.org/drawingml/2006/main" id="100062" idx="0"/>
            <a:endCxn xmlns:a="http://schemas.openxmlformats.org/drawingml/2006/main" id="100063" idx="0"/>
          </p:cNvCxnSpPr>
          <p:nvPr/>
        </p:nvCxnSpPr>
        <p:spPr>
          <a:xfrm xmlns:a="http://schemas.openxmlformats.org/drawingml/2006/main">
            <a:off x="7956000" y="2952000"/>
            <a:ext cx="140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069"/>
            </a:solidFill>
            <a:tailEnd type="triangle"/>
          </a:ln>
        </p:spPr>
      </p:cxnSp>
      <p:sp>
        <p:nvSpPr>
          <p:cNvPr id="100067" name="Fork"/>
          <p:cNvSpPr/>
          <p:nvPr/>
        </p:nvSpPr>
        <p:spPr>
          <a:xfrm xmlns:a="http://schemas.openxmlformats.org/drawingml/2006/main">
            <a:off x="3276000" y="4716000"/>
            <a:ext cx="2232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12700">
            <a:solidFill>
              <a:srgbClr val="B7791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7A4E11"/>
                </a:solidFill>
                <a:latin typeface="Arial"/>
                <a:ea typeface="Arial"/>
              </a:rPr>
              <a:t>编辑历史消息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7A4E11"/>
                </a:solidFill>
                <a:latin typeface="Arial"/>
                <a:ea typeface="Arial"/>
              </a:rPr>
              <a:t>Fork 新 Session</a:t>
            </a:r>
          </a:p>
        </p:txBody>
      </p:sp>
      <p:sp>
        <p:nvSpPr>
          <p:cNvPr id="100068" name="Shared"/>
          <p:cNvSpPr/>
          <p:nvPr/>
        </p:nvSpPr>
        <p:spPr>
          <a:xfrm xmlns:a="http://schemas.openxmlformats.org/drawingml/2006/main">
            <a:off x="6660000" y="4716000"/>
            <a:ext cx="2448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分支共享父会话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Workspace</a:t>
            </a:r>
          </a:p>
        </p:txBody>
      </p:sp>
      <p:cxnSp>
        <p:nvCxnSpPr>
          <p:cNvPr id="100069" name="Connector 4"/>
          <p:cNvCxnSpPr>
            <a:stCxn xmlns:a="http://schemas.openxmlformats.org/drawingml/2006/main" id="100061" idx="0"/>
            <a:endCxn xmlns:a="http://schemas.openxmlformats.org/drawingml/2006/main" id="100067" idx="0"/>
          </p:cNvCxnSpPr>
          <p:nvPr/>
        </p:nvCxnSpPr>
        <p:spPr>
          <a:xfrm xmlns:a="http://schemas.openxmlformats.org/drawingml/2006/main">
            <a:off x="4392000" y="3672000"/>
            <a:ext cx="0" cy="10440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B7791F"/>
            </a:solidFill>
            <a:tailEnd type="triangle"/>
          </a:ln>
        </p:spPr>
      </p:cxnSp>
      <p:cxnSp>
        <p:nvCxnSpPr>
          <p:cNvPr id="100070" name="Connector 5"/>
          <p:cNvCxnSpPr>
            <a:stCxn xmlns:a="http://schemas.openxmlformats.org/drawingml/2006/main" id="100067" idx="0"/>
            <a:endCxn xmlns:a="http://schemas.openxmlformats.org/drawingml/2006/main" id="100068" idx="0"/>
          </p:cNvCxnSpPr>
          <p:nvPr/>
        </p:nvCxnSpPr>
        <p:spPr>
          <a:xfrm xmlns:a="http://schemas.openxmlformats.org/drawingml/2006/main">
            <a:off x="5508000" y="5112000"/>
            <a:ext cx="115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069"/>
            </a:solidFill>
            <a:tailEnd type="triangle"/>
          </a:ln>
        </p:spPr>
      </p:cxnSp>
      <p:sp>
        <p:nvSpPr>
          <p:cNvPr id="100071" name="TextBox 9"/>
          <p:cNvSpPr txBox="1"/>
          <p:nvPr/>
        </p:nvSpPr>
        <p:spPr>
          <a:xfrm xmlns:a="http://schemas.openxmlformats.org/drawingml/2006/main">
            <a:off x="720000" y="5868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B514C"/>
                </a:solidFill>
                <a:latin typeface="Arial"/>
                <a:ea typeface="Arial"/>
              </a:rPr>
              <a:t>历史与上下文保存在 JSONL；Runtime 可以回收，Session 不会丢失。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100073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运行中仍可控制方向、队列与模型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40000" y="1440000"/>
            <a:ext cx="6192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TextBox 4"/>
          <p:cNvSpPr txBox="1"/>
          <p:nvPr/>
        </p:nvSpPr>
        <p:spPr>
          <a:xfrm xmlns:a="http://schemas.openxmlformats.org/drawingml/2006/main">
            <a:off x="828000" y="1692000"/>
            <a:ext cx="1116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276C4C"/>
                </a:solidFill>
                <a:latin typeface="Consolas"/>
                <a:ea typeface="Consolas"/>
              </a:rPr>
              <a:t>RUN 01</a:t>
            </a:r>
          </a:p>
        </p:txBody>
      </p:sp>
      <p:sp>
        <p:nvSpPr>
          <p:cNvPr id="100076" name="TextBox 5"/>
          <p:cNvSpPr txBox="1"/>
          <p:nvPr/>
        </p:nvSpPr>
        <p:spPr>
          <a:xfrm xmlns:a="http://schemas.openxmlformats.org/drawingml/2006/main">
            <a:off x="2124000" y="1656000"/>
            <a:ext cx="424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连续工具调用合并为 Run Group</a:t>
            </a:r>
          </a:p>
        </p:txBody>
      </p:sp>
      <p:sp>
        <p:nvSpPr>
          <p:cNvPr id="100077" name="TextBox 6"/>
          <p:cNvSpPr txBox="1"/>
          <p:nvPr/>
        </p:nvSpPr>
        <p:spPr>
          <a:xfrm xmlns:a="http://schemas.openxmlformats.org/drawingml/2006/main">
            <a:off x="828000" y="2304000"/>
            <a:ext cx="56160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932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 lIns="126000" tIns="126000" rIns="126000" bIns="126000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CEBE2"/>
                </a:solidFill>
                <a:latin typeface="Consolas"/>
                <a:ea typeface="Consolas"/>
              </a:rPr>
              <a:t>bash   pnpm install                         ✓</a:t>
            </a:r>
          </a:p>
        </p:txBody>
      </p:sp>
      <p:sp>
        <p:nvSpPr>
          <p:cNvPr id="100078" name="TextBox 7"/>
          <p:cNvSpPr txBox="1"/>
          <p:nvPr/>
        </p:nvSpPr>
        <p:spPr>
          <a:xfrm xmlns:a="http://schemas.openxmlformats.org/drawingml/2006/main">
            <a:off x="828000" y="3204000"/>
            <a:ext cx="56160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932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 lIns="126000" tIns="126000" rIns="126000" bIns="126000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CEBE2"/>
                </a:solidFill>
                <a:latin typeface="Consolas"/>
                <a:ea typeface="Consolas"/>
              </a:rPr>
              <a:t>edit   src/App.tsx                        ✓</a:t>
            </a:r>
          </a:p>
        </p:txBody>
      </p:sp>
      <p:sp>
        <p:nvSpPr>
          <p:cNvPr id="100079" name="TextBox 8"/>
          <p:cNvSpPr txBox="1"/>
          <p:nvPr/>
        </p:nvSpPr>
        <p:spPr>
          <a:xfrm xmlns:a="http://schemas.openxmlformats.org/drawingml/2006/main">
            <a:off x="828000" y="4104000"/>
            <a:ext cx="56160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932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 lIns="126000" tIns="126000" rIns="126000" bIns="126000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onsolas"/>
                <a:ea typeface="Consolas"/>
              </a:rPr>
              <a:t>bash   pnpm test                          ●</a:t>
            </a:r>
          </a:p>
        </p:txBody>
      </p:sp>
      <p:sp>
        <p:nvSpPr>
          <p:cNvPr id="100080" name="TextBox 9"/>
          <p:cNvSpPr txBox="1"/>
          <p:nvPr/>
        </p:nvSpPr>
        <p:spPr>
          <a:xfrm xmlns:a="http://schemas.openxmlformats.org/drawingml/2006/main">
            <a:off x="828000" y="5112000"/>
            <a:ext cx="5616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B8C2BA"/>
                </a:solidFill>
                <a:latin typeface="Arial"/>
                <a:ea typeface="Arial"/>
              </a:rPr>
              <a:t>每一步可展开参数、输出与错误</a:t>
            </a:r>
          </a:p>
        </p:txBody>
      </p:sp>
      <p:sp>
        <p:nvSpPr>
          <p:cNvPr id="100081" name="TextBox 10"/>
          <p:cNvSpPr txBox="1"/>
          <p:nvPr/>
        </p:nvSpPr>
        <p:spPr>
          <a:xfrm xmlns:a="http://schemas.openxmlformats.org/drawingml/2006/main">
            <a:off x="7236000" y="1512000"/>
            <a:ext cx="4068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20231F"/>
                </a:solidFill>
                <a:latin typeface="Arial"/>
                <a:ea typeface="Arial"/>
              </a:rPr>
              <a:t>运行时消息</a:t>
            </a:r>
          </a:p>
        </p:txBody>
      </p:sp>
      <p:sp>
        <p:nvSpPr>
          <p:cNvPr id="100082" name="TextBox 11"/>
          <p:cNvSpPr txBox="1"/>
          <p:nvPr/>
        </p:nvSpPr>
        <p:spPr>
          <a:xfrm xmlns:a="http://schemas.openxmlformats.org/drawingml/2006/main">
            <a:off x="7236000" y="2196000"/>
            <a:ext cx="40680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Steer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改变当前任务方向</a:t>
            </a:r>
          </a:p>
        </p:txBody>
      </p:sp>
      <p:sp>
        <p:nvSpPr>
          <p:cNvPr id="100083" name="TextBox 12"/>
          <p:cNvSpPr txBox="1"/>
          <p:nvPr/>
        </p:nvSpPr>
        <p:spPr>
          <a:xfrm xmlns:a="http://schemas.openxmlformats.org/drawingml/2006/main">
            <a:off x="7236000" y="3132000"/>
            <a:ext cx="40680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76C4C"/>
                </a:solidFill>
                <a:latin typeface="Arial"/>
                <a:ea typeface="Arial"/>
              </a:rPr>
              <a:t>Follow-up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276C4C"/>
                </a:solidFill>
                <a:latin typeface="Arial"/>
                <a:ea typeface="Arial"/>
              </a:rPr>
              <a:t>当前任务结束后继续</a:t>
            </a:r>
          </a:p>
        </p:txBody>
      </p:sp>
      <p:sp>
        <p:nvSpPr>
          <p:cNvPr id="100084" name="TextBox 13"/>
          <p:cNvSpPr txBox="1"/>
          <p:nvPr/>
        </p:nvSpPr>
        <p:spPr>
          <a:xfrm xmlns:a="http://schemas.openxmlformats.org/drawingml/2006/main">
            <a:off x="7236000" y="4068000"/>
            <a:ext cx="40680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12700">
            <a:solidFill>
              <a:srgbClr val="B7791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7A4E11"/>
                </a:solidFill>
                <a:latin typeface="Arial"/>
                <a:ea typeface="Arial"/>
              </a:rPr>
              <a:t>Stop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7A4E11"/>
                </a:solidFill>
                <a:latin typeface="Arial"/>
                <a:ea typeface="Arial"/>
              </a:rPr>
              <a:t>请求终止当前运行</a:t>
            </a:r>
          </a:p>
        </p:txBody>
      </p:sp>
      <p:sp>
        <p:nvSpPr>
          <p:cNvPr id="100085" name="TextBox 14"/>
          <p:cNvSpPr txBox="1"/>
          <p:nvPr/>
        </p:nvSpPr>
        <p:spPr>
          <a:xfrm xmlns:a="http://schemas.openxmlformats.org/drawingml/2006/main">
            <a:off x="7236000" y="5040000"/>
            <a:ext cx="4068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20231F"/>
                </a:solidFill>
                <a:latin typeface="Consolas"/>
                <a:ea typeface="Consolas"/>
              </a:rPr>
              <a:t>Model  ↔  Thinking level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0231F"/>
        </a:solidFill>
      </p:bgPr>
    </p:bg>
    <p:spTree>
      <p:nvGrpSpPr>
        <p:cNvPr id="1" name=""/>
        <p:cNvGrpSpPr/>
        <p:nvPr/>
      </p:nvGrpSpPr>
      <p:grpSpPr/>
      <p:sp>
        <p:nvSpPr>
          <p:cNvPr id="100086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D3A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20231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100087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Arial"/>
                <a:ea typeface="Arial"/>
              </a:rPr>
              <a:t>Harness 检查器让内部状态可见、可操作</a:t>
            </a:r>
          </a:p>
        </p:txBody>
      </p:sp>
      <p:sp>
        <p:nvSpPr>
          <p:cNvPr id="100088" name="TextBox 3"/>
          <p:cNvSpPr/>
          <p:nvPr/>
        </p:nvSpPr>
        <p:spPr>
          <a:xfrm xmlns:a="http://schemas.openxmlformats.org/drawingml/2006/main">
            <a:off x="540000" y="1440000"/>
            <a:ext cx="3520800" cy="41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2B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9" name="TextBox 4"/>
          <p:cNvSpPr/>
          <p:nvPr/>
        </p:nvSpPr>
        <p:spPr>
          <a:xfrm xmlns:a="http://schemas.openxmlformats.org/drawingml/2006/main">
            <a:off x="828000" y="1728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76C4C"/>
                </a:solidFill>
                <a:latin typeface="Consolas"/>
                <a:ea typeface="Consolas"/>
              </a:rPr>
              <a:t>A</a:t>
            </a:r>
          </a:p>
        </p:txBody>
      </p:sp>
      <p:sp>
        <p:nvSpPr>
          <p:cNvPr id="100090" name="TextBox 5"/>
          <p:cNvSpPr txBox="1"/>
          <p:nvPr/>
        </p:nvSpPr>
        <p:spPr>
          <a:xfrm xmlns:a="http://schemas.openxmlformats.org/drawingml/2006/main">
            <a:off x="1620000" y="1764000"/>
            <a:ext cx="205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活动</a:t>
            </a:r>
          </a:p>
        </p:txBody>
      </p:sp>
      <p:sp>
        <p:nvSpPr>
          <p:cNvPr id="100091" name="TextBox 6"/>
          <p:cNvSpPr txBox="1"/>
          <p:nvPr/>
        </p:nvSpPr>
        <p:spPr>
          <a:xfrm xmlns:a="http://schemas.openxmlformats.org/drawingml/2006/main">
            <a:off x="828000" y="2592000"/>
            <a:ext cx="2808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运行时间线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工具开始 / 更新 / 完成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队列与 Runtime 状态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自动重试事件</a:t>
            </a:r>
          </a:p>
        </p:txBody>
      </p:sp>
      <p:sp>
        <p:nvSpPr>
          <p:cNvPr id="100092" name="TextBox 7"/>
          <p:cNvSpPr/>
          <p:nvPr/>
        </p:nvSpPr>
        <p:spPr>
          <a:xfrm xmlns:a="http://schemas.openxmlformats.org/drawingml/2006/main">
            <a:off x="4334400" y="1440000"/>
            <a:ext cx="3520800" cy="41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2B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extBox 8"/>
          <p:cNvSpPr/>
          <p:nvPr/>
        </p:nvSpPr>
        <p:spPr>
          <a:xfrm xmlns:a="http://schemas.openxmlformats.org/drawingml/2006/main">
            <a:off x="4622400" y="1728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76C4C"/>
                </a:solidFill>
                <a:latin typeface="Consolas"/>
                <a:ea typeface="Consolas"/>
              </a:rPr>
              <a:t>C</a:t>
            </a:r>
          </a:p>
        </p:txBody>
      </p:sp>
      <p:sp>
        <p:nvSpPr>
          <p:cNvPr id="100094" name="TextBox 9"/>
          <p:cNvSpPr txBox="1"/>
          <p:nvPr/>
        </p:nvSpPr>
        <p:spPr>
          <a:xfrm xmlns:a="http://schemas.openxmlformats.org/drawingml/2006/main">
            <a:off x="5400000" y="1764000"/>
            <a:ext cx="208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上下文</a:t>
            </a:r>
          </a:p>
        </p:txBody>
      </p:sp>
      <p:sp>
        <p:nvSpPr>
          <p:cNvPr id="100095" name="TextBox 10"/>
          <p:cNvSpPr txBox="1"/>
          <p:nvPr/>
        </p:nvSpPr>
        <p:spPr>
          <a:xfrm xmlns:a="http://schemas.openxmlformats.org/drawingml/2006/main">
            <a:off x="4622400" y="2592000"/>
            <a:ext cx="2808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Context usage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输入 / 输出 / 缓存 Tokens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工具调用与估算费用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手动压缩与导出</a:t>
            </a:r>
          </a:p>
        </p:txBody>
      </p:sp>
      <p:sp>
        <p:nvSpPr>
          <p:cNvPr id="100096" name="TextBox 11"/>
          <p:cNvSpPr/>
          <p:nvPr/>
        </p:nvSpPr>
        <p:spPr>
          <a:xfrm xmlns:a="http://schemas.openxmlformats.org/drawingml/2006/main">
            <a:off x="8128800" y="1440000"/>
            <a:ext cx="3520800" cy="41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2B"/>
          </a:solidFill>
          <a:ln xmlns:a="http://schemas.openxmlformats.org/drawingml/2006/main" w="12700">
            <a:solidFill>
              <a:srgbClr val="3A41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TextBox 12"/>
          <p:cNvSpPr/>
          <p:nvPr/>
        </p:nvSpPr>
        <p:spPr>
          <a:xfrm xmlns:a="http://schemas.openxmlformats.org/drawingml/2006/main">
            <a:off x="8416800" y="1728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76C4C"/>
                </a:solidFill>
                <a:latin typeface="Consolas"/>
                <a:ea typeface="Consolas"/>
              </a:rPr>
              <a:t>S</a:t>
            </a:r>
          </a:p>
        </p:txBody>
      </p:sp>
      <p:sp>
        <p:nvSpPr>
          <p:cNvPr id="100098" name="TextBox 13"/>
          <p:cNvSpPr txBox="1"/>
          <p:nvPr/>
        </p:nvSpPr>
        <p:spPr>
          <a:xfrm xmlns:a="http://schemas.openxmlformats.org/drawingml/2006/main">
            <a:off x="9198000" y="1764000"/>
            <a:ext cx="208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设置</a:t>
            </a:r>
          </a:p>
        </p:txBody>
      </p:sp>
      <p:sp>
        <p:nvSpPr>
          <p:cNvPr id="100099" name="TextBox 14"/>
          <p:cNvSpPr txBox="1"/>
          <p:nvPr/>
        </p:nvSpPr>
        <p:spPr>
          <a:xfrm xmlns:a="http://schemas.openxmlformats.org/drawingml/2006/main">
            <a:off x="8416800" y="2592000"/>
            <a:ext cx="2808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自动压缩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自动重试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Steer 消费模式</a:t>
            </a:r>
          </a:p>
          <a:p xmlns:a="http://schemas.openxmlformats.org/drawingml/2006/main">
            <a:pPr>
              <a:lnSpc>
                <a:spcPct val="13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Follow-up 消费模式</a:t>
            </a:r>
          </a:p>
        </p:txBody>
      </p:sp>
      <p:sp>
        <p:nvSpPr>
          <p:cNvPr id="100100" name="TextBox 15"/>
          <p:cNvSpPr txBox="1"/>
          <p:nvPr/>
        </p:nvSpPr>
        <p:spPr>
          <a:xfrm xmlns:a="http://schemas.openxmlformats.org/drawingml/2006/main">
            <a:off x="720000" y="5940000"/>
            <a:ext cx="107532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70D3A3"/>
                </a:solidFill>
                <a:latin typeface="Arial"/>
                <a:ea typeface="Arial"/>
              </a:rPr>
              <a:t>不是调试后台，而是面向开发者的产品能力。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101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07</a:t>
            </a:r>
          </a:p>
        </p:txBody>
      </p:sp>
      <p:sp>
        <p:nvSpPr>
          <p:cNvPr id="100102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Conversation 是跨三层状态的聚合</a:t>
            </a:r>
          </a:p>
        </p:txBody>
      </p:sp>
      <p:sp>
        <p:nvSpPr>
          <p:cNvPr id="100160" name="TextBox 3"/>
          <p:cNvSpPr txBox="1"/>
          <p:nvPr/>
        </p:nvSpPr>
        <p:spPr>
          <a:xfrm>
            <a:off x="540000" y="1206000"/>
            <a:ext cx="11113200" cy="594000"/>
          </a:xfrm>
          <a:prstGeom prst="rect">
            <a:avLst/>
          </a:prstGeom>
          <a:solidFill>
            <a:srgbClr val="20231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ConversationService 统一协调 · 同一个 conversation.id 贯穿 Record / Active / Channel / Snapshot</a:t>
            </a:r>
          </a:p>
        </p:txBody>
      </p:sp>
      <p:sp>
        <p:nvSpPr>
          <p:cNvPr id="100161" name="RecordCard"/>
          <p:cNvSpPr/>
          <p:nvPr/>
        </p:nvSpPr>
        <p:spPr>
          <a:xfrm>
            <a:off x="540000" y="2088000"/>
            <a:ext cx="3420000" cy="2592000"/>
          </a:xfrm>
          <a:prstGeom prst="rect">
            <a:avLst/>
          </a:prstGeom>
          <a:solidFill>
            <a:srgbClr val="E9ECE7"/>
          </a:solidFill>
          <a:ln w="12700">
            <a:solidFill>
              <a:srgbClr val="DADDD7"/>
            </a:solidFill>
          </a:ln>
        </p:spPr>
        <p:txBody>
          <a:bodyPr/>
          <a:lstStyle/>
          <a:p/>
        </p:txBody>
      </p:sp>
      <p:sp>
        <p:nvSpPr>
          <p:cNvPr id="100162" name="TextBox 5"/>
          <p:cNvSpPr txBox="1"/>
          <p:nvPr/>
        </p:nvSpPr>
        <p:spPr>
          <a:xfrm>
            <a:off x="756000" y="2322000"/>
            <a:ext cx="29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200" b="1">
                <a:solidFill>
                  <a:srgbClr val="20231F"/>
                </a:solidFill>
                <a:latin typeface="Consolas"/>
                <a:ea typeface="Consolas"/>
              </a:rPr>
              <a:t>ConversationRecord</a:t>
            </a:r>
          </a:p>
        </p:txBody>
      </p:sp>
      <p:sp>
        <p:nvSpPr>
          <p:cNvPr id="100163" name="TextBox 6"/>
          <p:cNvSpPr txBox="1"/>
          <p:nvPr/>
        </p:nvSpPr>
        <p:spPr>
          <a:xfrm>
            <a:off x="756000" y="2844000"/>
            <a:ext cx="2988000" cy="162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持久化：records/{id}.json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workspace / sessionFile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parentId / settings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4B514C"/>
                </a:solidFill>
                <a:latin typeface="Arial"/>
                <a:ea typeface="Arial"/>
              </a:rPr>
              <a:t>冷态仍存在</a:t>
            </a:r>
          </a:p>
        </p:txBody>
      </p:sp>
      <p:sp>
        <p:nvSpPr>
          <p:cNvPr id="100164" name="TextBox 7"/>
          <p:cNvSpPr/>
          <p:nvPr/>
        </p:nvSpPr>
        <p:spPr>
          <a:xfrm>
            <a:off x="4014000" y="3078000"/>
            <a:ext cx="324000" cy="576000"/>
          </a:xfrm>
          <a:prstGeom prst="rightArrow">
            <a:avLst/>
          </a:prstGeom>
          <a:solidFill>
            <a:srgbClr val="B7791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5" name="ActiveCard"/>
          <p:cNvSpPr/>
          <p:nvPr/>
        </p:nvSpPr>
        <p:spPr>
          <a:xfrm>
            <a:off x="4384800" y="2088000"/>
            <a:ext cx="3420000" cy="2592000"/>
          </a:xfrm>
          <a:prstGeom prst="rect">
            <a:avLst/>
          </a:prstGeom>
          <a:solidFill>
            <a:srgbClr val="276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6" name="TextBox 9"/>
          <p:cNvSpPr txBox="1"/>
          <p:nvPr/>
        </p:nvSpPr>
        <p:spPr>
          <a:xfrm>
            <a:off x="4600800" y="2322000"/>
            <a:ext cx="29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onsolas"/>
                <a:ea typeface="Consolas"/>
              </a:rPr>
              <a:t>ActiveConversation</a:t>
            </a:r>
          </a:p>
        </p:txBody>
      </p:sp>
      <p:sp>
        <p:nvSpPr>
          <p:cNvPr id="100167" name="TextBox 10"/>
          <p:cNvSpPr txBox="1"/>
          <p:nvPr/>
        </p:nvSpPr>
        <p:spPr>
          <a:xfrm>
            <a:off x="4600800" y="2844000"/>
            <a:ext cx="2988000" cy="162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内存：active.get(id)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AgentSessionRuntime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status / timer / diagnostics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TTL 到期释放，可重建</a:t>
            </a:r>
          </a:p>
        </p:txBody>
      </p:sp>
      <p:sp>
        <p:nvSpPr>
          <p:cNvPr id="100168" name="TextBox 11"/>
          <p:cNvSpPr/>
          <p:nvPr/>
        </p:nvSpPr>
        <p:spPr>
          <a:xfrm>
            <a:off x="7858800" y="3078000"/>
            <a:ext cx="324000" cy="576000"/>
          </a:xfrm>
          <a:prstGeom prst="rightArrow">
            <a:avLst/>
          </a:prstGeom>
          <a:solidFill>
            <a:srgbClr val="B7791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9" name="ChannelCard"/>
          <p:cNvSpPr/>
          <p:nvPr/>
        </p:nvSpPr>
        <p:spPr>
          <a:xfrm>
            <a:off x="8233200" y="2088000"/>
            <a:ext cx="3420000" cy="2592000"/>
          </a:xfrm>
          <a:prstGeom prst="rect">
            <a:avLst/>
          </a:prstGeom>
          <a:solidFill>
            <a:srgbClr val="DCEB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0" name="TextBox 13"/>
          <p:cNvSpPr txBox="1"/>
          <p:nvPr/>
        </p:nvSpPr>
        <p:spPr>
          <a:xfrm>
            <a:off x="8449200" y="2322000"/>
            <a:ext cx="29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200" b="1">
                <a:solidFill>
                  <a:srgbClr val="276C4C"/>
                </a:solidFill>
                <a:latin typeface="Consolas"/>
                <a:ea typeface="Consolas"/>
              </a:rPr>
              <a:t>EventBuffer</a:t>
            </a:r>
          </a:p>
        </p:txBody>
      </p:sp>
      <p:sp>
        <p:nvSpPr>
          <p:cNvPr id="100171" name="TextBox 14"/>
          <p:cNvSpPr txBox="1"/>
          <p:nvPr/>
        </p:nvSpPr>
        <p:spPr>
          <a:xfrm>
            <a:off x="8449200" y="2844000"/>
            <a:ext cx="2988000" cy="162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276C4C"/>
                </a:solidFill>
                <a:latin typeface="Arial"/>
                <a:ea typeface="Arial"/>
              </a:rPr>
              <a:t>内存：channels.get(id)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276C4C"/>
                </a:solidFill>
                <a:latin typeface="Arial"/>
                <a:ea typeface="Arial"/>
              </a:rPr>
              <a:t>StreamEvent[] + listeners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276C4C"/>
                </a:solidFill>
                <a:latin typeface="Arial"/>
                <a:ea typeface="Arial"/>
              </a:rPr>
              <a:t>replay(after) / subscribe</a:t>
            </a:r>
          </a:p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276C4C"/>
                </a:solidFill>
                <a:latin typeface="Arial"/>
                <a:ea typeface="Arial"/>
              </a:rPr>
              <a:t>Runtime 释放后仍保留</a:t>
            </a:r>
          </a:p>
        </p:txBody>
      </p:sp>
      <p:sp>
        <p:nvSpPr>
          <p:cNvPr id="100172" name="TextBox 15"/>
          <p:cNvSpPr/>
          <p:nvPr/>
        </p:nvSpPr>
        <p:spPr>
          <a:xfrm>
            <a:off x="2124000" y="4734000"/>
            <a:ext cx="252000" cy="396000"/>
          </a:xfrm>
          <a:prstGeom prst="downArrow">
            <a:avLst/>
          </a:prstGeom>
          <a:solidFill>
            <a:srgbClr val="6870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3" name="TextBox 16"/>
          <p:cNvSpPr/>
          <p:nvPr/>
        </p:nvSpPr>
        <p:spPr>
          <a:xfrm>
            <a:off x="5968800" y="4734000"/>
            <a:ext cx="252000" cy="396000"/>
          </a:xfrm>
          <a:prstGeom prst="downArrow">
            <a:avLst/>
          </a:prstGeom>
          <a:solidFill>
            <a:srgbClr val="6870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4" name="TextBox 17"/>
          <p:cNvSpPr/>
          <p:nvPr/>
        </p:nvSpPr>
        <p:spPr>
          <a:xfrm>
            <a:off x="9817200" y="4734000"/>
            <a:ext cx="252000" cy="396000"/>
          </a:xfrm>
          <a:prstGeom prst="downArrow">
            <a:avLst/>
          </a:prstGeom>
          <a:solidFill>
            <a:srgbClr val="6870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5" name="TextBox 18"/>
          <p:cNvSpPr txBox="1"/>
          <p:nvPr/>
        </p:nvSpPr>
        <p:spPr>
          <a:xfrm>
            <a:off x="1260000" y="5202000"/>
            <a:ext cx="9673200" cy="954000"/>
          </a:xfrm>
          <a:prstGeom prst="rect">
            <a:avLst/>
          </a:prstGeom>
          <a:solidFill>
            <a:srgbClr val="20231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ConversationSnapshot（前端读模型）</a:t>
            </a:r>
          </a:p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Record 元数据 + Runtime 投影 + EventBuffer 游标 / activity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114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08</a:t>
            </a:r>
          </a:p>
        </p:txBody>
      </p:sp>
      <p:sp>
        <p:nvSpPr>
          <p:cNvPr id="100115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工程质量有可重复的验证结果</a:t>
            </a:r>
          </a:p>
        </p:txBody>
      </p:sp>
      <p:sp>
        <p:nvSpPr>
          <p:cNvPr id="100116" name="TextBox 3"/>
          <p:cNvSpPr/>
          <p:nvPr/>
        </p:nvSpPr>
        <p:spPr>
          <a:xfrm xmlns:a="http://schemas.openxmlformats.org/drawingml/2006/main">
            <a:off x="540000" y="1440000"/>
            <a:ext cx="3520800" cy="18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7" name="TextBox 4"/>
          <p:cNvSpPr txBox="1"/>
          <p:nvPr/>
        </p:nvSpPr>
        <p:spPr>
          <a:xfrm xmlns:a="http://schemas.openxmlformats.org/drawingml/2006/main">
            <a:off x="648000" y="1692000"/>
            <a:ext cx="3304800" cy="91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100118" name="TextBox 5"/>
          <p:cNvSpPr txBox="1"/>
          <p:nvPr/>
        </p:nvSpPr>
        <p:spPr>
          <a:xfrm xmlns:a="http://schemas.openxmlformats.org/drawingml/2006/main">
            <a:off x="720000" y="2664000"/>
            <a:ext cx="316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DCEBE2"/>
                </a:solidFill>
                <a:latin typeface="Arial"/>
                <a:ea typeface="Arial"/>
              </a:rPr>
              <a:t>测试文件全部通过</a:t>
            </a:r>
          </a:p>
        </p:txBody>
      </p:sp>
      <p:sp>
        <p:nvSpPr>
          <p:cNvPr id="100119" name="TextBox 6"/>
          <p:cNvSpPr/>
          <p:nvPr/>
        </p:nvSpPr>
        <p:spPr>
          <a:xfrm xmlns:a="http://schemas.openxmlformats.org/drawingml/2006/main">
            <a:off x="4334400" y="1440000"/>
            <a:ext cx="3520800" cy="18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0" name="TextBox 7"/>
          <p:cNvSpPr txBox="1"/>
          <p:nvPr/>
        </p:nvSpPr>
        <p:spPr>
          <a:xfrm xmlns:a="http://schemas.openxmlformats.org/drawingml/2006/main">
            <a:off x="4442400" y="1692000"/>
            <a:ext cx="3304800" cy="91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  <a:latin typeface="Arial"/>
                <a:ea typeface="Arial"/>
              </a:rPr>
              <a:t>48</a:t>
            </a:r>
          </a:p>
        </p:txBody>
      </p:sp>
      <p:sp>
        <p:nvSpPr>
          <p:cNvPr id="100121" name="TextBox 8"/>
          <p:cNvSpPr txBox="1"/>
          <p:nvPr/>
        </p:nvSpPr>
        <p:spPr>
          <a:xfrm xmlns:a="http://schemas.openxmlformats.org/drawingml/2006/main">
            <a:off x="4514400" y="2664000"/>
            <a:ext cx="316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测试用例全部通过</a:t>
            </a:r>
          </a:p>
        </p:txBody>
      </p:sp>
      <p:sp>
        <p:nvSpPr>
          <p:cNvPr id="100122" name="TextBox 9"/>
          <p:cNvSpPr/>
          <p:nvPr/>
        </p:nvSpPr>
        <p:spPr>
          <a:xfrm xmlns:a="http://schemas.openxmlformats.org/drawingml/2006/main">
            <a:off x="8128800" y="1440000"/>
            <a:ext cx="3520800" cy="18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3" name="TextBox 10"/>
          <p:cNvSpPr txBox="1"/>
          <p:nvPr/>
        </p:nvSpPr>
        <p:spPr>
          <a:xfrm xmlns:a="http://schemas.openxmlformats.org/drawingml/2006/main">
            <a:off x="8236800" y="1764000"/>
            <a:ext cx="33048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276C4C"/>
                </a:solidFill>
                <a:latin typeface="Consolas"/>
                <a:ea typeface="Consolas"/>
              </a:rPr>
              <a:t>PASS</a:t>
            </a:r>
          </a:p>
        </p:txBody>
      </p:sp>
      <p:sp>
        <p:nvSpPr>
          <p:cNvPr id="100124" name="TextBox 11"/>
          <p:cNvSpPr txBox="1"/>
          <p:nvPr/>
        </p:nvSpPr>
        <p:spPr>
          <a:xfrm xmlns:a="http://schemas.openxmlformats.org/drawingml/2006/main">
            <a:off x="8308800" y="2664000"/>
            <a:ext cx="316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276C4C"/>
                </a:solidFill>
                <a:latin typeface="Arial"/>
                <a:ea typeface="Arial"/>
              </a:rPr>
              <a:t>TypeScript + Vite 构建</a:t>
            </a:r>
          </a:p>
        </p:txBody>
      </p:sp>
      <p:sp>
        <p:nvSpPr>
          <p:cNvPr id="100125" name="TextBox 12"/>
          <p:cNvSpPr txBox="1"/>
          <p:nvPr/>
        </p:nvSpPr>
        <p:spPr>
          <a:xfrm xmlns:a="http://schemas.openxmlformats.org/drawingml/2006/main">
            <a:off x="540000" y="3780000"/>
            <a:ext cx="432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20231F"/>
                </a:solidFill>
                <a:latin typeface="Arial"/>
                <a:ea typeface="Arial"/>
              </a:rPr>
              <a:t>源码与测试分离</a:t>
            </a:r>
          </a:p>
        </p:txBody>
      </p:sp>
      <p:sp>
        <p:nvSpPr>
          <p:cNvPr id="100126" name="TextBox 13"/>
          <p:cNvSpPr txBox="1"/>
          <p:nvPr/>
        </p:nvSpPr>
        <p:spPr>
          <a:xfrm xmlns:a="http://schemas.openxmlformats.org/drawingml/2006/main">
            <a:off x="540000" y="4392000"/>
            <a:ext cx="2556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src/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前端界面与状态</a:t>
            </a:r>
          </a:p>
        </p:txBody>
      </p:sp>
      <p:sp>
        <p:nvSpPr>
          <p:cNvPr id="100127" name="TextBox 14"/>
          <p:cNvSpPr txBox="1"/>
          <p:nvPr/>
        </p:nvSpPr>
        <p:spPr>
          <a:xfrm xmlns:a="http://schemas.openxmlformats.org/drawingml/2006/main">
            <a:off x="3366000" y="4392000"/>
            <a:ext cx="2556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server/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API 与 Session 服务</a:t>
            </a:r>
          </a:p>
        </p:txBody>
      </p:sp>
      <p:sp>
        <p:nvSpPr>
          <p:cNvPr id="100128" name="TextBox 15"/>
          <p:cNvSpPr txBox="1"/>
          <p:nvPr/>
        </p:nvSpPr>
        <p:spPr>
          <a:xfrm xmlns:a="http://schemas.openxmlformats.org/drawingml/2006/main">
            <a:off x="6192000" y="4392000"/>
            <a:ext cx="2556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12700">
            <a:solidFill>
              <a:srgbClr val="DADD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shared/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20231F"/>
                </a:solidFill>
                <a:latin typeface="Arial"/>
                <a:ea typeface="Arial"/>
              </a:rPr>
              <a:t>跨端类型契约</a:t>
            </a:r>
          </a:p>
        </p:txBody>
      </p:sp>
      <p:sp>
        <p:nvSpPr>
          <p:cNvPr id="100129" name="TextBox 16"/>
          <p:cNvSpPr txBox="1"/>
          <p:nvPr/>
        </p:nvSpPr>
        <p:spPr>
          <a:xfrm xmlns:a="http://schemas.openxmlformats.org/drawingml/2006/main">
            <a:off x="9018000" y="4392000"/>
            <a:ext cx="2556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test/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组件与服务测试</a:t>
            </a:r>
          </a:p>
        </p:txBody>
      </p:sp>
      <p:sp>
        <p:nvSpPr>
          <p:cNvPr id="100130" name="TextBox 17"/>
          <p:cNvSpPr txBox="1"/>
          <p:nvPr/>
        </p:nvSpPr>
        <p:spPr>
          <a:xfrm xmlns:a="http://schemas.openxmlformats.org/drawingml/2006/main">
            <a:off x="540000" y="59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300">
                <a:solidFill>
                  <a:srgbClr val="687069"/>
                </a:solidFill>
                <a:latin typeface="Consolas"/>
                <a:ea typeface="Consolas"/>
              </a:rPr>
              <a:t>验证时间：2026-08-18 · pnpm test · pnpm build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/>
      <p:sp>
        <p:nvSpPr>
          <p:cNvPr id="100131" name="TextBox 1"/>
          <p:cNvSpPr/>
          <p:nvPr/>
        </p:nvSpPr>
        <p:spPr>
          <a:xfrm xmlns:a="http://schemas.openxmlformats.org/drawingml/2006/main">
            <a:off x="504000" y="306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09</a:t>
            </a:r>
          </a:p>
        </p:txBody>
      </p:sp>
      <p:sp>
        <p:nvSpPr>
          <p:cNvPr id="100132" name="TextBox 2"/>
          <p:cNvSpPr txBox="1"/>
          <p:nvPr/>
        </p:nvSpPr>
        <p:spPr>
          <a:xfrm xmlns:a="http://schemas.openxmlformats.org/drawingml/2006/main">
            <a:off x="1080000" y="306000"/>
            <a:ext cx="1026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20231F"/>
                </a:solidFill>
                <a:latin typeface="Arial"/>
                <a:ea typeface="Arial"/>
              </a:rPr>
              <a:t>演示的最后一步：明确安全边界</a:t>
            </a:r>
          </a:p>
        </p:txBody>
      </p:sp>
      <p:sp>
        <p:nvSpPr>
          <p:cNvPr id="100133" name="TextBox 3"/>
          <p:cNvSpPr/>
          <p:nvPr/>
        </p:nvSpPr>
        <p:spPr>
          <a:xfrm xmlns:a="http://schemas.openxmlformats.org/drawingml/2006/main">
            <a:off x="540000" y="1440000"/>
            <a:ext cx="4392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1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4" name="TextBox 4"/>
          <p:cNvSpPr/>
          <p:nvPr/>
        </p:nvSpPr>
        <p:spPr>
          <a:xfrm xmlns:a="http://schemas.openxmlformats.org/drawingml/2006/main">
            <a:off x="2052000" y="1800000"/>
            <a:ext cx="1368000" cy="13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B7791F"/>
                </a:solidFill>
                <a:latin typeface="Arial"/>
                <a:ea typeface="Arial"/>
              </a:rPr>
              <a:t>!</a:t>
            </a:r>
          </a:p>
        </p:txBody>
      </p:sp>
      <p:sp>
        <p:nvSpPr>
          <p:cNvPr id="100135" name="TextBox 5"/>
          <p:cNvSpPr txBox="1"/>
          <p:nvPr/>
        </p:nvSpPr>
        <p:spPr>
          <a:xfrm xmlns:a="http://schemas.openxmlformats.org/drawingml/2006/main">
            <a:off x="900000" y="3384000"/>
            <a:ext cx="3672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700" b="1">
                <a:solidFill>
                  <a:srgbClr val="FFFFFF"/>
                </a:solidFill>
                <a:latin typeface="Arial"/>
                <a:ea typeface="Arial"/>
              </a:rPr>
              <a:t>本机可信环境</a:t>
            </a:r>
          </a:p>
        </p:txBody>
      </p:sp>
      <p:sp>
        <p:nvSpPr>
          <p:cNvPr id="100136" name="TextBox 6"/>
          <p:cNvSpPr txBox="1"/>
          <p:nvPr/>
        </p:nvSpPr>
        <p:spPr>
          <a:xfrm xmlns:a="http://schemas.openxmlformats.org/drawingml/2006/main">
            <a:off x="900000" y="4032000"/>
            <a:ext cx="3672000" cy="15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独立 cwd 不是 OS 沙箱</a:t>
            </a:r>
          </a:p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Bash 可访问绝对路径</a:t>
            </a:r>
          </a:p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仅监听 127.0.0.1</a:t>
            </a:r>
          </a:p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1900">
                <a:solidFill>
                  <a:srgbClr val="DCEBE2"/>
                </a:solidFill>
                <a:latin typeface="Arial"/>
                <a:ea typeface="Arial"/>
              </a:rPr>
              <a:t>不要暴露给不可信用户</a:t>
            </a:r>
          </a:p>
        </p:txBody>
      </p:sp>
      <p:sp>
        <p:nvSpPr>
          <p:cNvPr id="100137" name="TextBox 7"/>
          <p:cNvSpPr txBox="1"/>
          <p:nvPr/>
        </p:nvSpPr>
        <p:spPr>
          <a:xfrm xmlns:a="http://schemas.openxmlformats.org/drawingml/2006/main">
            <a:off x="5508000" y="1512000"/>
            <a:ext cx="594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20231F"/>
                </a:solidFill>
                <a:latin typeface="Arial"/>
                <a:ea typeface="Arial"/>
              </a:rPr>
              <a:t>建议演示路径</a:t>
            </a:r>
          </a:p>
        </p:txBody>
      </p:sp>
      <p:sp>
        <p:nvSpPr>
          <p:cNvPr id="100138" name="TextBox 8"/>
          <p:cNvSpPr/>
          <p:nvPr/>
        </p:nvSpPr>
        <p:spPr>
          <a:xfrm xmlns:a="http://schemas.openxmlformats.org/drawingml/2006/main">
            <a:off x="5508000" y="230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100139" name="TextBox 9"/>
          <p:cNvSpPr txBox="1"/>
          <p:nvPr/>
        </p:nvSpPr>
        <p:spPr>
          <a:xfrm xmlns:a="http://schemas.openxmlformats.org/drawingml/2006/main">
            <a:off x="6300000" y="2286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0231F"/>
                </a:solidFill>
                <a:latin typeface="Arial"/>
                <a:ea typeface="Arial"/>
              </a:rPr>
              <a:t>创建小项目，展开 Bash 与 edit</a:t>
            </a:r>
          </a:p>
        </p:txBody>
      </p:sp>
      <p:sp>
        <p:nvSpPr>
          <p:cNvPr id="100140" name="TextBox 10"/>
          <p:cNvSpPr/>
          <p:nvPr/>
        </p:nvSpPr>
        <p:spPr>
          <a:xfrm xmlns:a="http://schemas.openxmlformats.org/drawingml/2006/main">
            <a:off x="5508000" y="302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onsolas"/>
                <a:ea typeface="Consolas"/>
              </a:rPr>
              <a:t>2</a:t>
            </a:r>
          </a:p>
        </p:txBody>
      </p:sp>
      <p:sp>
        <p:nvSpPr>
          <p:cNvPr id="100141" name="TextBox 11"/>
          <p:cNvSpPr txBox="1"/>
          <p:nvPr/>
        </p:nvSpPr>
        <p:spPr>
          <a:xfrm xmlns:a="http://schemas.openxmlformats.org/drawingml/2006/main">
            <a:off x="6300000" y="3006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0231F"/>
                </a:solidFill>
                <a:latin typeface="Arial"/>
                <a:ea typeface="Arial"/>
              </a:rPr>
              <a:t>发送 Steer 与 Follow-up，观察队列</a:t>
            </a:r>
          </a:p>
        </p:txBody>
      </p:sp>
      <p:sp>
        <p:nvSpPr>
          <p:cNvPr id="100142" name="TextBox 12"/>
          <p:cNvSpPr/>
          <p:nvPr/>
        </p:nvSpPr>
        <p:spPr>
          <a:xfrm xmlns:a="http://schemas.openxmlformats.org/drawingml/2006/main">
            <a:off x="5508000" y="374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onsolas"/>
                <a:ea typeface="Consolas"/>
              </a:rPr>
              <a:t>3</a:t>
            </a:r>
          </a:p>
        </p:txBody>
      </p:sp>
      <p:sp>
        <p:nvSpPr>
          <p:cNvPr id="100143" name="TextBox 13"/>
          <p:cNvSpPr txBox="1"/>
          <p:nvPr/>
        </p:nvSpPr>
        <p:spPr>
          <a:xfrm xmlns:a="http://schemas.openxmlformats.org/drawingml/2006/main">
            <a:off x="6300000" y="3726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0231F"/>
                </a:solidFill>
                <a:latin typeface="Arial"/>
                <a:ea typeface="Arial"/>
              </a:rPr>
              <a:t>切换 Model / Thinking，查看 Context</a:t>
            </a:r>
          </a:p>
        </p:txBody>
      </p:sp>
      <p:sp>
        <p:nvSpPr>
          <p:cNvPr id="100144" name="TextBox 14"/>
          <p:cNvSpPr/>
          <p:nvPr/>
        </p:nvSpPr>
        <p:spPr>
          <a:xfrm xmlns:a="http://schemas.openxmlformats.org/drawingml/2006/main">
            <a:off x="5508000" y="446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100145" name="TextBox 15"/>
          <p:cNvSpPr txBox="1"/>
          <p:nvPr/>
        </p:nvSpPr>
        <p:spPr>
          <a:xfrm xmlns:a="http://schemas.openxmlformats.org/drawingml/2006/main">
            <a:off x="6300000" y="4446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0231F"/>
                </a:solidFill>
                <a:latin typeface="Arial"/>
                <a:ea typeface="Arial"/>
              </a:rPr>
              <a:t>上传图片、压缩上下文并创建分支</a:t>
            </a:r>
          </a:p>
        </p:txBody>
      </p:sp>
      <p:sp>
        <p:nvSpPr>
          <p:cNvPr id="100146" name="TextBox 16"/>
          <p:cNvSpPr/>
          <p:nvPr/>
        </p:nvSpPr>
        <p:spPr>
          <a:xfrm xmlns:a="http://schemas.openxmlformats.org/drawingml/2006/main">
            <a:off x="5508000" y="518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4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onsolas"/>
                <a:ea typeface="Consolas"/>
              </a:rPr>
              <a:t>5</a:t>
            </a:r>
          </a:p>
        </p:txBody>
      </p:sp>
      <p:sp>
        <p:nvSpPr>
          <p:cNvPr id="100147" name="TextBox 17"/>
          <p:cNvSpPr txBox="1"/>
          <p:nvPr/>
        </p:nvSpPr>
        <p:spPr>
          <a:xfrm xmlns:a="http://schemas.openxmlformats.org/drawingml/2006/main">
            <a:off x="6300000" y="5166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0231F"/>
                </a:solidFill>
                <a:latin typeface="Arial"/>
                <a:ea typeface="Arial"/>
              </a:rPr>
              <a:t>重启服务，继续原会话验证恢复</a:t>
            </a:r>
          </a:p>
        </p:txBody>
      </p:sp>
      <p:sp>
        <p:nvSpPr>
          <p:cNvPr id="100148" name="TextBox 18"/>
          <p:cNvSpPr txBox="1"/>
          <p:nvPr/>
        </p:nvSpPr>
        <p:spPr>
          <a:xfrm xmlns:a="http://schemas.openxmlformats.org/drawingml/2006/main">
            <a:off x="5508000" y="5814000"/>
            <a:ext cx="594000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276C4C"/>
                </a:solidFill>
                <a:latin typeface="Arial"/>
                <a:ea typeface="Arial"/>
              </a:rPr>
              <a:t>Pi Chat Web = 可观察、可恢复、可控制的本地 Agent 工作台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2026-08-18T02:51:22.0000000Z</dcterms:created>
  <lastModifiedBy>OfficeCLI</lastModifiedBy>
  <dcterms:modified xsi:type="dcterms:W3CDTF">2026-08-18T02:51:23.3948360Z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2026-08-18T03:07:49Z</vt:lpwstr>
  </op:property>
</op:Properties>
</file>