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c400e1457947a6" /><Relationship Type="http://schemas.openxmlformats.org/officeDocument/2006/relationships/extended-properties" Target="/docProps/app.xml" Id="Re9b5b8b6767f446d" /><Relationship Type="http://schemas.openxmlformats.org/officeDocument/2006/relationships/officeDocument" Target="/ppt/presentation.xml" Id="Ra5d4c8f99db84487" /><Relationship Type="http://schemas.openxmlformats.org/officeDocument/2006/relationships/custom-properties" Target="/docProps/custom.xml" Id="R1d005b6894a148c9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48c2ac6d843245a8"/>
  </p:sldMasterIdLst>
  <p:notesMasterIdLst>
    <p:notesMasterId xmlns:r="http://schemas.openxmlformats.org/officeDocument/2006/relationships" r:id="R255e84e74d7244d9"/>
  </p:notesMasterIdLst>
  <p:sldIdLst>
    <p:sldId xmlns:r="http://schemas.openxmlformats.org/officeDocument/2006/relationships" id="256" r:id="R7279e4f0077b4d8c"/>
    <p:sldId xmlns:r="http://schemas.openxmlformats.org/officeDocument/2006/relationships" id="257" r:id="R37083eae61aa4bd0"/>
    <p:sldId xmlns:r="http://schemas.openxmlformats.org/officeDocument/2006/relationships" id="258" r:id="Rdd34cd2839654d84"/>
    <p:sldId xmlns:r="http://schemas.openxmlformats.org/officeDocument/2006/relationships" id="259" r:id="R513daae3a1904bea"/>
    <p:sldId xmlns:r="http://schemas.openxmlformats.org/officeDocument/2006/relationships" id="260" r:id="R8be44d5625244f98"/>
    <p:sldId xmlns:r="http://schemas.openxmlformats.org/officeDocument/2006/relationships" id="261" r:id="R469ea5b46dc14277"/>
    <p:sldId xmlns:r="http://schemas.openxmlformats.org/officeDocument/2006/relationships" id="262" r:id="R15a566be25c8483c"/>
    <p:sldId xmlns:r="http://schemas.openxmlformats.org/officeDocument/2006/relationships" id="263" r:id="Refa464b3ac5e45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9d20e923d04341" /><Relationship Type="http://schemas.openxmlformats.org/officeDocument/2006/relationships/slideMaster" Target="/ppt/slideMasters/slideMaster1.xml" Id="R48c2ac6d843245a8" /><Relationship Type="http://schemas.openxmlformats.org/officeDocument/2006/relationships/notesMaster" Target="/ppt/notesMasters/notesMaster1.xml" Id="R255e84e74d7244d9" /><Relationship Type="http://schemas.openxmlformats.org/officeDocument/2006/relationships/presProps" Target="/ppt/presProps.xml" Id="Rbe9ba22796064d80" /><Relationship Type="http://schemas.openxmlformats.org/officeDocument/2006/relationships/tableStyles" Target="/ppt/tableStyles.xml" Id="R4576ec01026a49c5" /><Relationship Type="http://schemas.openxmlformats.org/officeDocument/2006/relationships/slide" Target="/ppt/slides/slide1.xml" Id="R7279e4f0077b4d8c" /><Relationship Type="http://schemas.openxmlformats.org/officeDocument/2006/relationships/slide" Target="/ppt/slides/slide2.xml" Id="R37083eae61aa4bd0" /><Relationship Type="http://schemas.openxmlformats.org/officeDocument/2006/relationships/slide" Target="/ppt/slides/slide3.xml" Id="Rdd34cd2839654d84" /><Relationship Type="http://schemas.openxmlformats.org/officeDocument/2006/relationships/slide" Target="/ppt/slides/slide4.xml" Id="R513daae3a1904bea" /><Relationship Type="http://schemas.openxmlformats.org/officeDocument/2006/relationships/slide" Target="/ppt/slides/slide5.xml" Id="R8be44d5625244f98" /><Relationship Type="http://schemas.openxmlformats.org/officeDocument/2006/relationships/slide" Target="/ppt/slides/slide6.xml" Id="R469ea5b46dc14277" /><Relationship Type="http://schemas.openxmlformats.org/officeDocument/2006/relationships/slide" Target="/ppt/slides/slide7.xml" Id="R15a566be25c8483c" /><Relationship Type="http://schemas.openxmlformats.org/officeDocument/2006/relationships/slide" Target="/ppt/slides/slide8.xml" Id="Refa464b3ac5e45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aa0985650b48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7669af5ca648e2" /><Relationship Type="http://schemas.openxmlformats.org/officeDocument/2006/relationships/notesMaster" Target="/ppt/notesMasters/notesMaster1.xml" Id="R938b78b3ebc84c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873de671114d2c" /><Relationship Type="http://schemas.openxmlformats.org/officeDocument/2006/relationships/notesMaster" Target="/ppt/notesMasters/notesMaster1.xml" Id="R770b8ff2eb854b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3df17af5114801" /><Relationship Type="http://schemas.openxmlformats.org/officeDocument/2006/relationships/notesMaster" Target="/ppt/notesMasters/notesMaster1.xml" Id="R49ec8aa40d9941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533b817dd14a97" /><Relationship Type="http://schemas.openxmlformats.org/officeDocument/2006/relationships/notesMaster" Target="/ppt/notesMasters/notesMaster1.xml" Id="R9a4310b7a11448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c3d4708fd24583" /><Relationship Type="http://schemas.openxmlformats.org/officeDocument/2006/relationships/notesMaster" Target="/ppt/notesMasters/notesMaster1.xml" Id="Rb404a03e924d44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53e2600877433a" /><Relationship Type="http://schemas.openxmlformats.org/officeDocument/2006/relationships/notesMaster" Target="/ppt/notesMasters/notesMaster1.xml" Id="Rf495e2d616784b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d89ccb5fec4b4f" /><Relationship Type="http://schemas.openxmlformats.org/officeDocument/2006/relationships/notesMaster" Target="/ppt/notesMasters/notesMaster1.xml" Id="R094efb09a7a04f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f20229712b4c07" /><Relationship Type="http://schemas.openxmlformats.org/officeDocument/2006/relationships/notesMaster" Target="/ppt/notesMasters/notesMaster1.xml" Id="R9c55be8466b24f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讲解提示：先说明三个模块不是并列功能，而是从最小调用到行为控制、再到上下文稳定性的递进路径。</a:t>
            </a:r>
          </a:p>
          <a:p>
            <a:r>
              <a:rPr lang="en-US"/>
              <a:t/>
            </a:r>
          </a:p>
          <a:p>
            <a:r>
              <a:rPr lang="en-US"/>
              <a:t>[Sources]</a:t>
            </a:r>
          </a:p>
          <a:p>
            <a:r>
              <a:rPr lang="en-US"/>
              <a:t>- Local: examples/00-quickstart/演讲稿.md</a:t>
            </a:r>
          </a:p>
          <a:p>
            <a:r>
              <a:rPr lang="en-US"/>
              <a:t>- Local: examples/01-agent-loop/演讲稿.md</a:t>
            </a:r>
          </a:p>
          <a:p>
            <a:r>
              <a:rPr lang="en-US"/>
              <a:t>- Local: examples/02-context/演讲稿.md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讲解提示：现场指出 try/finally 的意义，强调 Session 生命周期和流式订阅的最小闭环。</a:t>
            </a:r>
          </a:p>
          <a:p>
            <a:r>
              <a:rPr lang="en-US"/>
              <a:t/>
            </a:r>
          </a:p>
          <a:p>
            <a:r>
              <a:rPr lang="en-US"/>
              <a:t>[Sources]</a:t>
            </a:r>
          </a:p>
          <a:p>
            <a:r>
              <a:rPr lang="en-US"/>
              <a:t>- Local: examples/00-quickstart/00-minimal-agent.ts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讲解提示：对比默认模型选择与自定义 Provider；重点强调密钥不进入源码。</a:t>
            </a:r>
          </a:p>
          <a:p>
            <a:r>
              <a:rPr lang="en-US"/>
              <a:t/>
            </a:r>
          </a:p>
          <a:p>
            <a:r>
              <a:rPr lang="en-US"/>
              <a:t>[Sources]</a:t>
            </a:r>
          </a:p>
          <a:p>
            <a:r>
              <a:rPr lang="en-US"/>
              <a:t>- Local: examples/00-quickstart/01-model-runtime.ts</a:t>
            </a:r>
          </a:p>
          <a:p>
            <a:r>
              <a:rPr lang="en-US"/>
              <a:t>- Local: examples/00-quickstart/02-custom-provider.ts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讲解提示：沿着 Prompt、Turn、Tool、Result、Repeat 讲解循环，并展示订阅到的关键事件。</a:t>
            </a:r>
          </a:p>
          <a:p>
            <a:r>
              <a:rPr lang="en-US"/>
              <a:t/>
            </a:r>
          </a:p>
          <a:p>
            <a:r>
              <a:rPr lang="en-US"/>
              <a:t>[Sources]</a:t>
            </a:r>
          </a:p>
          <a:p>
            <a:r>
              <a:rPr lang="en-US"/>
              <a:t>- Local: examples/01-agent-loop/00-observe-loop.ts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讲解提示：白名单解决权限边界，自定义工具解决能力扩展；二者共同决定 Agent 的可控性。</a:t>
            </a:r>
          </a:p>
          <a:p>
            <a:r>
              <a:rPr lang="en-US"/>
              <a:t/>
            </a:r>
          </a:p>
          <a:p>
            <a:r>
              <a:rPr lang="en-US"/>
              <a:t>[Sources]</a:t>
            </a:r>
          </a:p>
          <a:p>
            <a:r>
              <a:rPr lang="en-US"/>
              <a:t>- Local: examples/01-agent-loop/01-readonly-tools.ts</a:t>
            </a:r>
          </a:p>
          <a:p>
            <a:r>
              <a:rPr lang="en-US"/>
              <a:t>- Local: examples/01-agent-loop/02-custom-tool.ts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讲解提示：强调上下文工程不是堆叠长提示，而是分层组织稳定规则、当前任务和证据。</a:t>
            </a:r>
          </a:p>
          <a:p>
            <a:r>
              <a:rPr lang="en-US"/>
              <a:t/>
            </a:r>
          </a:p>
          <a:p>
            <a:r>
              <a:rPr lang="en-US"/>
              <a:t>[Sources]</a:t>
            </a:r>
          </a:p>
          <a:p>
            <a:r>
              <a:rPr lang="en-US"/>
              <a:t>- Local: examples/02-context/00-system-prompt.ts</a:t>
            </a:r>
          </a:p>
          <a:p>
            <a:r>
              <a:rPr lang="en-US"/>
              <a:t>- Local: examples/02-context/演讲稿.md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讲解提示：用三个 pnpm 命令结束本节，让听众先获得可运行、可观察、可控制的基线。</a:t>
            </a:r>
          </a:p>
          <a:p>
            <a:r>
              <a:rPr lang="en-US"/>
              <a:t/>
            </a:r>
          </a:p>
          <a:p>
            <a:r>
              <a:rPr lang="en-US"/>
              <a:t>[Sources]</a:t>
            </a:r>
          </a:p>
          <a:p>
            <a:r>
              <a:rPr lang="en-US"/>
              <a:t>- Local: package.json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509721be0c4b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f9929625a44861" /><Relationship Type="http://schemas.openxmlformats.org/officeDocument/2006/relationships/slideLayout" Target="/ppt/slideLayouts/slideLayout1.xml" Id="R585320b5e6d442e5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5320b5e6d442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4a19cc3854ed9" /><Relationship Type="http://schemas.openxmlformats.org/officeDocument/2006/relationships/notesSlide" Target="/ppt/notesSlides/notesSlide1.xml" Id="R067d86710ac741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8de503cee4a80" /><Relationship Type="http://schemas.openxmlformats.org/officeDocument/2006/relationships/notesSlide" Target="/ppt/notesSlides/notesSlide2.xml" Id="Rff5fbd55b8db40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518e503ba4c1c" /><Relationship Type="http://schemas.openxmlformats.org/officeDocument/2006/relationships/notesSlide" Target="/ppt/notesSlides/notesSlide3.xml" Id="R83ab54baf24746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002736b5f40fb" /><Relationship Type="http://schemas.openxmlformats.org/officeDocument/2006/relationships/notesSlide" Target="/ppt/notesSlides/notesSlide4.xml" Id="Rbfb900f6bb1945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3c2cb7fc244e1" /><Relationship Type="http://schemas.openxmlformats.org/officeDocument/2006/relationships/notesSlide" Target="/ppt/notesSlides/notesSlide5.xml" Id="R6cf31f7439404a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ef1aeb6174c2c" /><Relationship Type="http://schemas.openxmlformats.org/officeDocument/2006/relationships/notesSlide" Target="/ppt/notesSlides/notesSlide6.xml" Id="R498bbd3d6c5345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39bb27b534383" /><Relationship Type="http://schemas.openxmlformats.org/officeDocument/2006/relationships/notesSlide" Target="/ppt/notesSlides/notesSlide7.xml" Id="R3a4b24c9be5a44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65b6b2071431e" /><Relationship Type="http://schemas.openxmlformats.org/officeDocument/2006/relationships/notesSlide" Target="/ppt/notesSlides/notesSlide8.xml" Id="Rbd826dac614e49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accent-field">
            <a:extLst xmlns:a="http://schemas.openxmlformats.org/drawingml/2006/main">
              <a:ext uri="{FF2B5EF4-FFF2-40B4-BE49-F238E27FC236}">
                <a16:creationId xmlns:a16="http://schemas.microsoft.com/office/drawing/2014/main" id="{FB5DF973-EE1D-4C7C-9D6D-54DF64C8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0"/>
            <a:ext cx="5238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blue-block">
            <a:extLst xmlns:a="http://schemas.openxmlformats.org/drawingml/2006/main">
              <a:ext uri="{FF2B5EF4-FFF2-40B4-BE49-F238E27FC236}">
                <a16:creationId xmlns:a16="http://schemas.microsoft.com/office/drawing/2014/main" id="{2652443E-93AB-4A0F-B635-602F4778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00150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cyan-block">
            <a:extLst xmlns:a="http://schemas.openxmlformats.org/drawingml/2006/main">
              <a:ext uri="{FF2B5EF4-FFF2-40B4-BE49-F238E27FC236}">
                <a16:creationId xmlns:a16="http://schemas.microsoft.com/office/drawing/2014/main" id="{70C1535A-B6E4-4137-BB56-E60EBDB5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05150"/>
            <a:ext cx="13906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C8517C1C-17EC-4A47-A4E0-91F8ECB7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Pi Agent SDK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C7D936B-3F03-443C-A128-6C1FB4DC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581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从第一次对话</a:t>
            </a:r>
          </a:p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到稳定上下文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48B538D-B764-447E-BE22-C17B098E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571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用三个可运行示例理解 Session、Agent Loop 与 Context</a:t>
            </a:r>
          </a:p>
        </p:txBody>
      </p:sp>
      <p:sp>
        <p:nvSpPr>
          <p:cNvPr id="7" name="cover-meta">
            <a:extLst xmlns:a="http://schemas.openxmlformats.org/drawingml/2006/main">
              <a:ext uri="{FF2B5EF4-FFF2-40B4-BE49-F238E27FC236}">
                <a16:creationId xmlns:a16="http://schemas.microsoft.com/office/drawing/2014/main" id="{E0C7E721-E790-4E36-B870-7CF026CC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pi-tutorial · examples/00-quickstart · 01-agent-loop · 02-context</a:t>
            </a:r>
          </a:p>
        </p:txBody>
      </p:sp>
    </p:spTree>
    <p:extLst>
      <p:ext uri="{BB962C8B-B14F-4D97-AF65-F5344CB8AC3E}">
        <p14:creationId xmlns:p14="http://schemas.microsoft.com/office/powerpoint/2010/main" val="16043260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919AA8E7-CF3C-4990-8577-18074C48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40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三个模块形成一条递进的 Agent 学习路径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FE912E42-D723-4D49-BD95-F5350CE6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762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path-line">
            <a:extLst xmlns:a="http://schemas.openxmlformats.org/drawingml/2006/main">
              <a:ext uri="{FF2B5EF4-FFF2-40B4-BE49-F238E27FC236}">
                <a16:creationId xmlns:a16="http://schemas.microsoft.com/office/drawing/2014/main" id="{2D1D5DE7-F8E3-461A-A0DD-C0AE7A76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33675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dot-0">
            <a:extLst xmlns:a="http://schemas.openxmlformats.org/drawingml/2006/main">
              <a:ext uri="{FF2B5EF4-FFF2-40B4-BE49-F238E27FC236}">
                <a16:creationId xmlns:a16="http://schemas.microsoft.com/office/drawing/2014/main" id="{9A343349-4381-4B59-BDEB-B6F8A129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622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label-0">
            <a:extLst xmlns:a="http://schemas.openxmlformats.org/drawingml/2006/main">
              <a:ext uri="{FF2B5EF4-FFF2-40B4-BE49-F238E27FC236}">
                <a16:creationId xmlns:a16="http://schemas.microsoft.com/office/drawing/2014/main" id="{439BED08-51CA-4896-BFB7-DE029D19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00 · QUICKSTART</a:t>
            </a:r>
          </a:p>
        </p:txBody>
      </p:sp>
      <p:sp>
        <p:nvSpPr>
          <p:cNvPr id="6" name="path-heading-0">
            <a:extLst xmlns:a="http://schemas.openxmlformats.org/drawingml/2006/main">
              <a:ext uri="{FF2B5EF4-FFF2-40B4-BE49-F238E27FC236}">
                <a16:creationId xmlns:a16="http://schemas.microsoft.com/office/drawing/2014/main" id="{680338A4-1525-43C3-8BB3-114AD090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3000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先跑通最小闭环</a:t>
            </a:r>
          </a:p>
        </p:txBody>
      </p:sp>
      <p:sp>
        <p:nvSpPr>
          <p:cNvPr id="7" name="path-body-0">
            <a:extLst xmlns:a="http://schemas.openxmlformats.org/drawingml/2006/main">
              <a:ext uri="{FF2B5EF4-FFF2-40B4-BE49-F238E27FC236}">
                <a16:creationId xmlns:a16="http://schemas.microsoft.com/office/drawing/2014/main" id="{5FC03A5B-9080-4344-9660-8DCFE626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30003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创建 Session</a:t>
            </a:r>
          </a:p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订阅流式输出</a:t>
            </a:r>
          </a:p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选择模型与 Provider</a:t>
            </a:r>
          </a:p>
        </p:txBody>
      </p:sp>
      <p:sp>
        <p:nvSpPr>
          <p:cNvPr id="8" name="path-dot-1">
            <a:extLst xmlns:a="http://schemas.openxmlformats.org/drawingml/2006/main">
              <a:ext uri="{FF2B5EF4-FFF2-40B4-BE49-F238E27FC236}">
                <a16:creationId xmlns:a16="http://schemas.microsoft.com/office/drawing/2014/main" id="{5BD420A7-836B-42E1-AE0E-202D8D8A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622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label-1">
            <a:extLst xmlns:a="http://schemas.openxmlformats.org/drawingml/2006/main">
              <a:ext uri="{FF2B5EF4-FFF2-40B4-BE49-F238E27FC236}">
                <a16:creationId xmlns:a16="http://schemas.microsoft.com/office/drawing/2014/main" id="{D2B6F04A-A608-4CED-BF29-07ADC1EC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81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01 · AGENT LOOP</a:t>
            </a:r>
          </a:p>
        </p:txBody>
      </p:sp>
      <p:sp>
        <p:nvSpPr>
          <p:cNvPr id="10" name="path-heading-1">
            <a:extLst xmlns:a="http://schemas.openxmlformats.org/drawingml/2006/main">
              <a:ext uri="{FF2B5EF4-FFF2-40B4-BE49-F238E27FC236}">
                <a16:creationId xmlns:a16="http://schemas.microsoft.com/office/drawing/2014/main" id="{D19C182D-FD94-4ED1-A130-E5066108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19450"/>
            <a:ext cx="3000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再观察并控制循环</a:t>
            </a:r>
          </a:p>
        </p:txBody>
      </p:sp>
      <p:sp>
        <p:nvSpPr>
          <p:cNvPr id="11" name="path-body-1">
            <a:extLst xmlns:a="http://schemas.openxmlformats.org/drawingml/2006/main">
              <a:ext uri="{FF2B5EF4-FFF2-40B4-BE49-F238E27FC236}">
                <a16:creationId xmlns:a16="http://schemas.microsoft.com/office/drawing/2014/main" id="{DAA7F486-483B-4583-8A18-298DEC8D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57650"/>
            <a:ext cx="30003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观察关键事件</a:t>
            </a:r>
          </a:p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限制工具白名单</a:t>
            </a:r>
          </a:p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注册结构化工具</a:t>
            </a:r>
          </a:p>
        </p:txBody>
      </p:sp>
      <p:sp>
        <p:nvSpPr>
          <p:cNvPr id="12" name="path-dot-2">
            <a:extLst xmlns:a="http://schemas.openxmlformats.org/drawingml/2006/main">
              <a:ext uri="{FF2B5EF4-FFF2-40B4-BE49-F238E27FC236}">
                <a16:creationId xmlns:a16="http://schemas.microsoft.com/office/drawing/2014/main" id="{FB20CAB1-EE61-40EF-91B5-D5F862FB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622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label-2">
            <a:extLst xmlns:a="http://schemas.openxmlformats.org/drawingml/2006/main">
              <a:ext uri="{FF2B5EF4-FFF2-40B4-BE49-F238E27FC236}">
                <a16:creationId xmlns:a16="http://schemas.microsoft.com/office/drawing/2014/main" id="{C267B693-31C0-492F-ACEB-04C9D503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1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 · CONTEXT</a:t>
            </a:r>
          </a:p>
        </p:txBody>
      </p:sp>
      <p:sp>
        <p:nvSpPr>
          <p:cNvPr id="14" name="path-heading-2">
            <a:extLst xmlns:a="http://schemas.openxmlformats.org/drawingml/2006/main">
              <a:ext uri="{FF2B5EF4-FFF2-40B4-BE49-F238E27FC236}">
                <a16:creationId xmlns:a16="http://schemas.microsoft.com/office/drawing/2014/main" id="{478FA828-BC4C-422C-9F9F-BBC98AB6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19450"/>
            <a:ext cx="3000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最后稳定行为边界</a:t>
            </a:r>
          </a:p>
        </p:txBody>
      </p:sp>
      <p:sp>
        <p:nvSpPr>
          <p:cNvPr id="15" name="path-body-2">
            <a:extLst xmlns:a="http://schemas.openxmlformats.org/drawingml/2006/main">
              <a:ext uri="{FF2B5EF4-FFF2-40B4-BE49-F238E27FC236}">
                <a16:creationId xmlns:a16="http://schemas.microsoft.com/office/drawing/2014/main" id="{6D911435-BC74-4B93-A54A-78524B28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57650"/>
            <a:ext cx="30003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覆盖 System Prompt</a:t>
            </a:r>
          </a:p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组织规则、目标与证据</a:t>
            </a:r>
          </a:p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减少“跑偏”和失忆</a:t>
            </a: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7FA9589E-3473-4F55-B189-8DFE121F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pi-tutorial · examples/00–02</a:t>
            </a:r>
          </a:p>
        </p:txBody>
      </p:sp>
    </p:spTree>
    <p:extLst>
      <p:ext uri="{BB962C8B-B14F-4D97-AF65-F5344CB8AC3E}">
        <p14:creationId xmlns:p14="http://schemas.microsoft.com/office/powerpoint/2010/main" val="9388686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A981685D-C526-4A06-A817-5DE3DA93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40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最小 Agent 只有四步：创建、订阅、提问、释放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B993E784-7B2B-4096-B657-02263525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762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step-num-0">
            <a:extLst xmlns:a="http://schemas.openxmlformats.org/drawingml/2006/main">
              <a:ext uri="{FF2B5EF4-FFF2-40B4-BE49-F238E27FC236}">
                <a16:creationId xmlns:a16="http://schemas.microsoft.com/office/drawing/2014/main" id="{C27047A1-A788-4F3E-A953-70ADA1DF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step-code-0">
            <a:extLst xmlns:a="http://schemas.openxmlformats.org/drawingml/2006/main">
              <a:ext uri="{FF2B5EF4-FFF2-40B4-BE49-F238E27FC236}">
                <a16:creationId xmlns:a16="http://schemas.microsoft.com/office/drawing/2014/main" id="{83418608-283A-418A-A4B7-89080932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002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75" b="1">
                <a:solidFill>
                  <a:srgbClr val="111111"/>
                </a:solidFill>
                <a:latin typeface="Menlo"/>
                <a:ea typeface="Menlo"/>
                <a:cs typeface="Menlo"/>
              </a:rPr>
              <a:t>createAgentSession()</a:t>
            </a:r>
          </a:p>
        </p:txBody>
      </p:sp>
      <p:sp>
        <p:nvSpPr>
          <p:cNvPr id="5" name="step-desc-0">
            <a:extLst xmlns:a="http://schemas.openxmlformats.org/drawingml/2006/main">
              <a:ext uri="{FF2B5EF4-FFF2-40B4-BE49-F238E27FC236}">
                <a16:creationId xmlns:a16="http://schemas.microsoft.com/office/drawing/2014/main" id="{95294DC6-B0C8-4BAA-BA3D-8EE67044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288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创建一次可交互会话</a:t>
            </a:r>
          </a:p>
        </p:txBody>
      </p:sp>
      <p:sp>
        <p:nvSpPr>
          <p:cNvPr id="6" name="step-num-1">
            <a:extLst xmlns:a="http://schemas.openxmlformats.org/drawingml/2006/main">
              <a:ext uri="{FF2B5EF4-FFF2-40B4-BE49-F238E27FC236}">
                <a16:creationId xmlns:a16="http://schemas.microsoft.com/office/drawing/2014/main" id="{D0D099F8-D911-4928-A40F-9BA17E92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step-code-1">
            <a:extLst xmlns:a="http://schemas.openxmlformats.org/drawingml/2006/main">
              <a:ext uri="{FF2B5EF4-FFF2-40B4-BE49-F238E27FC236}">
                <a16:creationId xmlns:a16="http://schemas.microsoft.com/office/drawing/2014/main" id="{1FA52591-A2AB-4B02-A596-2B30746D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098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75" b="1">
                <a:solidFill>
                  <a:srgbClr val="111111"/>
                </a:solidFill>
                <a:latin typeface="Menlo"/>
                <a:ea typeface="Menlo"/>
                <a:cs typeface="Menlo"/>
              </a:rPr>
              <a:t>attachTextStream()</a:t>
            </a:r>
          </a:p>
        </p:txBody>
      </p:sp>
      <p:sp>
        <p:nvSpPr>
          <p:cNvPr id="8" name="step-desc-1">
            <a:extLst xmlns:a="http://schemas.openxmlformats.org/drawingml/2006/main">
              <a:ext uri="{FF2B5EF4-FFF2-40B4-BE49-F238E27FC236}">
                <a16:creationId xmlns:a16="http://schemas.microsoft.com/office/drawing/2014/main" id="{13D526BF-F37E-43C5-91B7-CF575252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384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把流式文本接到终端</a:t>
            </a:r>
          </a:p>
        </p:txBody>
      </p:sp>
      <p:sp>
        <p:nvSpPr>
          <p:cNvPr id="9" name="step-num-2">
            <a:extLst xmlns:a="http://schemas.openxmlformats.org/drawingml/2006/main">
              <a:ext uri="{FF2B5EF4-FFF2-40B4-BE49-F238E27FC236}">
                <a16:creationId xmlns:a16="http://schemas.microsoft.com/office/drawing/2014/main" id="{E2D00E5E-F93E-4F10-8E61-ABDB4CBA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step-code-2">
            <a:extLst xmlns:a="http://schemas.openxmlformats.org/drawingml/2006/main">
              <a:ext uri="{FF2B5EF4-FFF2-40B4-BE49-F238E27FC236}">
                <a16:creationId xmlns:a16="http://schemas.microsoft.com/office/drawing/2014/main" id="{912D9B03-C5D5-4753-9634-F9EEC4A6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75" b="1">
                <a:solidFill>
                  <a:srgbClr val="111111"/>
                </a:solidFill>
                <a:latin typeface="Menlo"/>
                <a:ea typeface="Menlo"/>
                <a:cs typeface="Menlo"/>
              </a:rPr>
              <a:t>session.prompt()</a:t>
            </a:r>
          </a:p>
        </p:txBody>
      </p:sp>
      <p:sp>
        <p:nvSpPr>
          <p:cNvPr id="11" name="step-desc-2">
            <a:extLst xmlns:a="http://schemas.openxmlformats.org/drawingml/2006/main">
              <a:ext uri="{FF2B5EF4-FFF2-40B4-BE49-F238E27FC236}">
                <a16:creationId xmlns:a16="http://schemas.microsoft.com/office/drawing/2014/main" id="{5B0A259B-2D6A-4A62-8859-9046A72A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48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发送任务并等待完成</a:t>
            </a:r>
          </a:p>
        </p:txBody>
      </p:sp>
      <p:sp>
        <p:nvSpPr>
          <p:cNvPr id="12" name="step-num-3">
            <a:extLst xmlns:a="http://schemas.openxmlformats.org/drawingml/2006/main">
              <a:ext uri="{FF2B5EF4-FFF2-40B4-BE49-F238E27FC236}">
                <a16:creationId xmlns:a16="http://schemas.microsoft.com/office/drawing/2014/main" id="{F1F269CB-2819-4837-9343-D91A976F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code-3">
            <a:extLst xmlns:a="http://schemas.openxmlformats.org/drawingml/2006/main">
              <a:ext uri="{FF2B5EF4-FFF2-40B4-BE49-F238E27FC236}">
                <a16:creationId xmlns:a16="http://schemas.microsoft.com/office/drawing/2014/main" id="{4C1146F5-DAEA-47C2-B3DF-690B886C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75" b="1">
                <a:solidFill>
                  <a:srgbClr val="111111"/>
                </a:solidFill>
                <a:latin typeface="Menlo"/>
                <a:ea typeface="Menlo"/>
                <a:cs typeface="Menlo"/>
              </a:rPr>
              <a:t>session.dispose()</a:t>
            </a:r>
          </a:p>
        </p:txBody>
      </p:sp>
      <p:sp>
        <p:nvSpPr>
          <p:cNvPr id="14" name="step-desc-3">
            <a:extLst xmlns:a="http://schemas.openxmlformats.org/drawingml/2006/main">
              <a:ext uri="{FF2B5EF4-FFF2-40B4-BE49-F238E27FC236}">
                <a16:creationId xmlns:a16="http://schemas.microsoft.com/office/drawing/2014/main" id="{94112135-9527-48CC-BF3B-8467E1EC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577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无论成功失败都释放资源</a:t>
            </a:r>
          </a:p>
        </p:txBody>
      </p:sp>
      <p:sp>
        <p:nvSpPr>
          <p:cNvPr id="15" name="minimal-code-bg">
            <a:extLst xmlns:a="http://schemas.openxmlformats.org/drawingml/2006/main">
              <a:ext uri="{FF2B5EF4-FFF2-40B4-BE49-F238E27FC236}">
                <a16:creationId xmlns:a16="http://schemas.microsoft.com/office/drawing/2014/main" id="{F69AB3C6-9AF1-425B-8E36-43BF06C0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85900"/>
            <a:ext cx="630555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</p:sp>
      <p:sp>
        <p:nvSpPr>
          <p:cNvPr id="16" name="minimal-code-caption">
            <a:extLst xmlns:a="http://schemas.openxmlformats.org/drawingml/2006/main">
              <a:ext uri="{FF2B5EF4-FFF2-40B4-BE49-F238E27FC236}">
                <a16:creationId xmlns:a16="http://schemas.microsoft.com/office/drawing/2014/main" id="{225F136B-9E35-46E9-B546-AA05F48E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38300"/>
            <a:ext cx="588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6DCBF4"/>
                </a:solidFill>
                <a:latin typeface="Menlo"/>
                <a:ea typeface="Menlo"/>
                <a:cs typeface="Menlo"/>
              </a:rPr>
              <a:t>00-minimal-agent.ts</a:t>
            </a:r>
          </a:p>
        </p:txBody>
      </p:sp>
      <p:sp>
        <p:nvSpPr>
          <p:cNvPr id="17" name="minimal-code">
            <a:extLst xmlns:a="http://schemas.openxmlformats.org/drawingml/2006/main">
              <a:ext uri="{FF2B5EF4-FFF2-40B4-BE49-F238E27FC236}">
                <a16:creationId xmlns:a16="http://schemas.microsoft.com/office/drawing/2014/main" id="{9D3E074A-182A-4A62-AB9E-BAF30380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0250"/>
            <a:ext cx="5886450" cy="3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const { session } = await createAgentSession();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try {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const off = attachTextStream(session);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await session.prompt("What files are here?");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off();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 finally {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session.dispose();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C2378C48-3CE3-4875-B3EB-FF5840C4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pi-tutorial · examples/00–02</a:t>
            </a:r>
          </a:p>
        </p:txBody>
      </p:sp>
    </p:spTree>
    <p:extLst>
      <p:ext uri="{BB962C8B-B14F-4D97-AF65-F5344CB8AC3E}">
        <p14:creationId xmlns:p14="http://schemas.microsoft.com/office/powerpoint/2010/main" val="2123583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02D5563F-C551-4032-BFAC-F7A68F9E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40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模型选择从“写死”升级为可配置的运行时能力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0DB57396-499C-41B7-8A25-05883B1E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762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runtime-h">
            <a:extLst xmlns:a="http://schemas.openxmlformats.org/drawingml/2006/main">
              <a:ext uri="{FF2B5EF4-FFF2-40B4-BE49-F238E27FC236}">
                <a16:creationId xmlns:a16="http://schemas.microsoft.com/office/drawing/2014/main" id="{CC4B3DB9-EA81-436F-A6BF-E77234E3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ModelRuntime</a:t>
            </a:r>
          </a:p>
        </p:txBody>
      </p:sp>
      <p:sp>
        <p:nvSpPr>
          <p:cNvPr id="4" name="runtime-body">
            <a:extLst xmlns:a="http://schemas.openxmlformats.org/drawingml/2006/main">
              <a:ext uri="{FF2B5EF4-FFF2-40B4-BE49-F238E27FC236}">
                <a16:creationId xmlns:a16="http://schemas.microsoft.com/office/drawing/2014/main" id="{D856EEB0-99E7-4B69-8DFC-E644BB3B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4095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枚举可用模型，并允许 PI_MODEL 覆盖默认选择。代码只依赖抽象，不绑定单一厂商。</a:t>
            </a:r>
          </a:p>
        </p:txBody>
      </p:sp>
      <p:sp>
        <p:nvSpPr>
          <p:cNvPr id="5" name="provider-h">
            <a:extLst xmlns:a="http://schemas.openxmlformats.org/drawingml/2006/main">
              <a:ext uri="{FF2B5EF4-FFF2-40B4-BE49-F238E27FC236}">
                <a16:creationId xmlns:a16="http://schemas.microsoft.com/office/drawing/2014/main" id="{5D7471E1-F8CA-4149-983A-FA555494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Custom Provider</a:t>
            </a:r>
          </a:p>
        </p:txBody>
      </p:sp>
      <p:sp>
        <p:nvSpPr>
          <p:cNvPr id="6" name="provider-body">
            <a:extLst xmlns:a="http://schemas.openxmlformats.org/drawingml/2006/main">
              <a:ext uri="{FF2B5EF4-FFF2-40B4-BE49-F238E27FC236}">
                <a16:creationId xmlns:a16="http://schemas.microsoft.com/office/drawing/2014/main" id="{280D2768-FABE-497C-8DD9-2A28E9ED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5800"/>
            <a:ext cx="4095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Provider 与 Model ID 来自环境变量；真实密钥放在 .env 或 models.json，而不是源码。</a:t>
            </a:r>
          </a:p>
        </p:txBody>
      </p:sp>
      <p:sp>
        <p:nvSpPr>
          <p:cNvPr id="7" name="runtime-code-bg">
            <a:extLst xmlns:a="http://schemas.openxmlformats.org/drawingml/2006/main">
              <a:ext uri="{FF2B5EF4-FFF2-40B4-BE49-F238E27FC236}">
                <a16:creationId xmlns:a16="http://schemas.microsoft.com/office/drawing/2014/main" id="{1E102C43-BF48-4893-BCBA-1DF46EE2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28750"/>
            <a:ext cx="63055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</p:sp>
      <p:sp>
        <p:nvSpPr>
          <p:cNvPr id="8" name="runtime-code-caption">
            <a:extLst xmlns:a="http://schemas.openxmlformats.org/drawingml/2006/main">
              <a:ext uri="{FF2B5EF4-FFF2-40B4-BE49-F238E27FC236}">
                <a16:creationId xmlns:a16="http://schemas.microsoft.com/office/drawing/2014/main" id="{8BDBAF3F-C5A2-4B6D-BA4B-ED1593C0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81150"/>
            <a:ext cx="588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6DCBF4"/>
                </a:solidFill>
                <a:latin typeface="Menlo"/>
                <a:ea typeface="Menlo"/>
                <a:cs typeface="Menlo"/>
              </a:rPr>
              <a:t>01-model-runtime.ts</a:t>
            </a:r>
          </a:p>
        </p:txBody>
      </p:sp>
      <p:sp>
        <p:nvSpPr>
          <p:cNvPr id="9" name="runtime-code">
            <a:extLst xmlns:a="http://schemas.openxmlformats.org/drawingml/2006/main">
              <a:ext uri="{FF2B5EF4-FFF2-40B4-BE49-F238E27FC236}">
                <a16:creationId xmlns:a16="http://schemas.microsoft.com/office/drawing/2014/main" id="{1945FBA4-0641-44A3-BBA7-E048D1FB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43100"/>
            <a:ext cx="58864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905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const runtime = await ModelRuntime.create();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const model = await pickModelFromEnvOrAvailable(runtime);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const { session } = await createAgentSession({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modelRuntime: runtime,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model,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});</a:t>
            </a:r>
          </a:p>
        </p:txBody>
      </p:sp>
      <p:sp>
        <p:nvSpPr>
          <p:cNvPr id="10" name="provider-code-bg">
            <a:extLst xmlns:a="http://schemas.openxmlformats.org/drawingml/2006/main">
              <a:ext uri="{FF2B5EF4-FFF2-40B4-BE49-F238E27FC236}">
                <a16:creationId xmlns:a16="http://schemas.microsoft.com/office/drawing/2014/main" id="{EDA3547F-9CD1-4DF3-88B5-E472CDC4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90950"/>
            <a:ext cx="63055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</p:sp>
      <p:sp>
        <p:nvSpPr>
          <p:cNvPr id="11" name="provider-code-caption">
            <a:extLst xmlns:a="http://schemas.openxmlformats.org/drawingml/2006/main">
              <a:ext uri="{FF2B5EF4-FFF2-40B4-BE49-F238E27FC236}">
                <a16:creationId xmlns:a16="http://schemas.microsoft.com/office/drawing/2014/main" id="{089B7AFF-A8E0-4D4D-A35D-68D0737F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588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6DCBF4"/>
                </a:solidFill>
                <a:latin typeface="Menlo"/>
                <a:ea typeface="Menlo"/>
                <a:cs typeface="Menlo"/>
              </a:rPr>
              <a:t>02-custom-provider.ts</a:t>
            </a:r>
          </a:p>
        </p:txBody>
      </p:sp>
      <p:sp>
        <p:nvSpPr>
          <p:cNvPr id="12" name="provider-code">
            <a:extLst xmlns:a="http://schemas.openxmlformats.org/drawingml/2006/main">
              <a:ext uri="{FF2B5EF4-FFF2-40B4-BE49-F238E27FC236}">
                <a16:creationId xmlns:a16="http://schemas.microsoft.com/office/drawing/2014/main" id="{A88DB13B-1C80-4620-8F88-84742B4A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05300"/>
            <a:ext cx="58864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const provider = process.env.PI_CUSTOM_PROVIDER;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const modelId = process.env.PI_CUSTOM_MODEL;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const model = runtime.getModel(provider, modelId);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3526BD0D-29A6-4F43-8B92-9E4BCC72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工程底线：密钥不进入源码</a:t>
            </a:r>
          </a:p>
        </p:txBody>
      </p:sp>
    </p:spTree>
    <p:extLst>
      <p:ext uri="{BB962C8B-B14F-4D97-AF65-F5344CB8AC3E}">
        <p14:creationId xmlns:p14="http://schemas.microsoft.com/office/powerpoint/2010/main" val="17157925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600F929D-EAB3-43E8-A1AA-07290A02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40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Agent Loop 把一次回答变成可观察、可迭代的任务执行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33E35348-B202-486A-BC83-2F108D9D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762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loop-box-0">
            <a:extLst xmlns:a="http://schemas.openxmlformats.org/drawingml/2006/main">
              <a:ext uri="{FF2B5EF4-FFF2-40B4-BE49-F238E27FC236}">
                <a16:creationId xmlns:a16="http://schemas.microsoft.com/office/drawing/2014/main" id="{B5B79298-9CC2-44B7-9CC3-7FAD69C4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18669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loop-head-0">
            <a:extLst xmlns:a="http://schemas.openxmlformats.org/drawingml/2006/main">
              <a:ext uri="{FF2B5EF4-FFF2-40B4-BE49-F238E27FC236}">
                <a16:creationId xmlns:a16="http://schemas.microsoft.com/office/drawing/2014/main" id="{DF010661-245D-439D-B8A6-C0F44F7A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5" name="loop-sub-0">
            <a:extLst xmlns:a="http://schemas.openxmlformats.org/drawingml/2006/main">
              <a:ext uri="{FF2B5EF4-FFF2-40B4-BE49-F238E27FC236}">
                <a16:creationId xmlns:a16="http://schemas.microsoft.com/office/drawing/2014/main" id="{61FA674B-F1A2-48D6-A2C5-4D764DC8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用户提出任务</a:t>
            </a:r>
          </a:p>
        </p:txBody>
      </p:sp>
      <p:sp>
        <p:nvSpPr>
          <p:cNvPr id="6" name="loop-arrow-0">
            <a:extLst xmlns:a="http://schemas.openxmlformats.org/drawingml/2006/main">
              <a:ext uri="{FF2B5EF4-FFF2-40B4-BE49-F238E27FC236}">
                <a16:creationId xmlns:a16="http://schemas.microsoft.com/office/drawing/2014/main" id="{49D2BA1C-FE03-49DB-AD77-C551F036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62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loop-box-1">
            <a:extLst xmlns:a="http://schemas.openxmlformats.org/drawingml/2006/main">
              <a:ext uri="{FF2B5EF4-FFF2-40B4-BE49-F238E27FC236}">
                <a16:creationId xmlns:a16="http://schemas.microsoft.com/office/drawing/2014/main" id="{2675E323-45A7-4F27-AF26-A163A99F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62200"/>
            <a:ext cx="18669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loop-head-1">
            <a:extLst xmlns:a="http://schemas.openxmlformats.org/drawingml/2006/main">
              <a:ext uri="{FF2B5EF4-FFF2-40B4-BE49-F238E27FC236}">
                <a16:creationId xmlns:a16="http://schemas.microsoft.com/office/drawing/2014/main" id="{7C0A64A3-9115-40E7-8FBA-02810625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098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Turn</a:t>
            </a:r>
          </a:p>
        </p:txBody>
      </p:sp>
      <p:sp>
        <p:nvSpPr>
          <p:cNvPr id="9" name="loop-sub-1">
            <a:extLst xmlns:a="http://schemas.openxmlformats.org/drawingml/2006/main">
              <a:ext uri="{FF2B5EF4-FFF2-40B4-BE49-F238E27FC236}">
                <a16:creationId xmlns:a16="http://schemas.microsoft.com/office/drawing/2014/main" id="{723C5A97-CEC3-44E7-BB16-EEB045CC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0515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模型规划下一步</a:t>
            </a:r>
          </a:p>
        </p:txBody>
      </p:sp>
      <p:sp>
        <p:nvSpPr>
          <p:cNvPr id="10" name="loop-arrow-1">
            <a:extLst xmlns:a="http://schemas.openxmlformats.org/drawingml/2006/main">
              <a:ext uri="{FF2B5EF4-FFF2-40B4-BE49-F238E27FC236}">
                <a16:creationId xmlns:a16="http://schemas.microsoft.com/office/drawing/2014/main" id="{35A6443C-DCC1-4100-9FDD-5421E966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62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loop-box-2">
            <a:extLst xmlns:a="http://schemas.openxmlformats.org/drawingml/2006/main">
              <a:ext uri="{FF2B5EF4-FFF2-40B4-BE49-F238E27FC236}">
                <a16:creationId xmlns:a16="http://schemas.microsoft.com/office/drawing/2014/main" id="{308C856C-C420-4865-8D1B-07C37D0C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62200"/>
            <a:ext cx="18669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loop-head-2">
            <a:extLst xmlns:a="http://schemas.openxmlformats.org/drawingml/2006/main">
              <a:ext uri="{FF2B5EF4-FFF2-40B4-BE49-F238E27FC236}">
                <a16:creationId xmlns:a16="http://schemas.microsoft.com/office/drawing/2014/main" id="{A5BF0722-F801-4C99-935D-2DA915BD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098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Tool</a:t>
            </a:r>
          </a:p>
        </p:txBody>
      </p:sp>
      <p:sp>
        <p:nvSpPr>
          <p:cNvPr id="13" name="loop-sub-2">
            <a:extLst xmlns:a="http://schemas.openxmlformats.org/drawingml/2006/main">
              <a:ext uri="{FF2B5EF4-FFF2-40B4-BE49-F238E27FC236}">
                <a16:creationId xmlns:a16="http://schemas.microsoft.com/office/drawing/2014/main" id="{26E121F4-18B2-4CA0-8E14-B690F9B3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0515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执行受控能力</a:t>
            </a:r>
          </a:p>
        </p:txBody>
      </p:sp>
      <p:sp>
        <p:nvSpPr>
          <p:cNvPr id="14" name="loop-arrow-2">
            <a:extLst xmlns:a="http://schemas.openxmlformats.org/drawingml/2006/main">
              <a:ext uri="{FF2B5EF4-FFF2-40B4-BE49-F238E27FC236}">
                <a16:creationId xmlns:a16="http://schemas.microsoft.com/office/drawing/2014/main" id="{402FF705-20F7-4B1A-AEF5-0666F9E0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62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loop-box-3">
            <a:extLst xmlns:a="http://schemas.openxmlformats.org/drawingml/2006/main">
              <a:ext uri="{FF2B5EF4-FFF2-40B4-BE49-F238E27FC236}">
                <a16:creationId xmlns:a16="http://schemas.microsoft.com/office/drawing/2014/main" id="{A8D10D92-6435-464C-8B3E-68AA281B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18669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loop-head-3">
            <a:extLst xmlns:a="http://schemas.openxmlformats.org/drawingml/2006/main">
              <a:ext uri="{FF2B5EF4-FFF2-40B4-BE49-F238E27FC236}">
                <a16:creationId xmlns:a16="http://schemas.microsoft.com/office/drawing/2014/main" id="{1E1C54F2-D094-4E0F-B144-46702E23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098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7" name="loop-sub-3">
            <a:extLst xmlns:a="http://schemas.openxmlformats.org/drawingml/2006/main">
              <a:ext uri="{FF2B5EF4-FFF2-40B4-BE49-F238E27FC236}">
                <a16:creationId xmlns:a16="http://schemas.microsoft.com/office/drawing/2014/main" id="{1C638823-8FFC-49C2-A1BE-3E9A6786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0515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结果进入上下文</a:t>
            </a:r>
          </a:p>
        </p:txBody>
      </p:sp>
      <p:sp>
        <p:nvSpPr>
          <p:cNvPr id="18" name="loop-arrow-3">
            <a:extLst xmlns:a="http://schemas.openxmlformats.org/drawingml/2006/main">
              <a:ext uri="{FF2B5EF4-FFF2-40B4-BE49-F238E27FC236}">
                <a16:creationId xmlns:a16="http://schemas.microsoft.com/office/drawing/2014/main" id="{DE29B3CD-2FE6-4F88-A9E1-C020A92A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62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loop-box-4">
            <a:extLst xmlns:a="http://schemas.openxmlformats.org/drawingml/2006/main">
              <a:ext uri="{FF2B5EF4-FFF2-40B4-BE49-F238E27FC236}">
                <a16:creationId xmlns:a16="http://schemas.microsoft.com/office/drawing/2014/main" id="{B7452680-39BD-49C8-9F97-51ACB3BF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62200"/>
            <a:ext cx="18669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loop-head-4">
            <a:extLst xmlns:a="http://schemas.openxmlformats.org/drawingml/2006/main">
              <a:ext uri="{FF2B5EF4-FFF2-40B4-BE49-F238E27FC236}">
                <a16:creationId xmlns:a16="http://schemas.microsoft.com/office/drawing/2014/main" id="{29BB5DED-C671-4A1D-9C24-32B9EC17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098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Repeat</a:t>
            </a:r>
          </a:p>
        </p:txBody>
      </p:sp>
      <p:sp>
        <p:nvSpPr>
          <p:cNvPr id="21" name="loop-sub-4">
            <a:extLst xmlns:a="http://schemas.openxmlformats.org/drawingml/2006/main">
              <a:ext uri="{FF2B5EF4-FFF2-40B4-BE49-F238E27FC236}">
                <a16:creationId xmlns:a16="http://schemas.microsoft.com/office/drawing/2014/main" id="{927BA293-9FF4-4B06-BA86-4D1A2EFE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0515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继续直到完成</a:t>
            </a:r>
          </a:p>
        </p:txBody>
      </p:sp>
      <p:sp>
        <p:nvSpPr>
          <p:cNvPr id="22" name="events-kicker">
            <a:extLst xmlns:a="http://schemas.openxmlformats.org/drawingml/2006/main">
              <a:ext uri="{FF2B5EF4-FFF2-40B4-BE49-F238E27FC236}">
                <a16:creationId xmlns:a16="http://schemas.microsoft.com/office/drawing/2014/main" id="{C851B9AA-A19D-4A9B-BEA3-F4A05003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订阅事件即可看见内部节奏</a:t>
            </a:r>
          </a:p>
        </p:txBody>
      </p:sp>
      <p:sp>
        <p:nvSpPr>
          <p:cNvPr id="23" name="events-list">
            <a:extLst xmlns:a="http://schemas.openxmlformats.org/drawingml/2006/main">
              <a:ext uri="{FF2B5EF4-FFF2-40B4-BE49-F238E27FC236}">
                <a16:creationId xmlns:a16="http://schemas.microsoft.com/office/drawing/2014/main" id="{63DB8E93-A0F7-4D87-9215-DDD3EC32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5F6670"/>
                </a:solidFill>
                <a:latin typeface="Menlo"/>
                <a:ea typeface="Menlo"/>
                <a:cs typeface="Menlo"/>
              </a:rPr>
              <a:t>agent_start / turn_start / tool_execution_start / tool_execution_end / turn_end / agent_end</a:t>
            </a:r>
          </a:p>
        </p:txBody>
      </p:sp>
      <p:sp>
        <p:nvSpPr>
          <p:cNvPr id="24" name="footer">
            <a:extLst xmlns:a="http://schemas.openxmlformats.org/drawingml/2006/main">
              <a:ext uri="{FF2B5EF4-FFF2-40B4-BE49-F238E27FC236}">
                <a16:creationId xmlns:a16="http://schemas.microsoft.com/office/drawing/2014/main" id="{641A86F1-222C-4936-9D0E-AEDC8456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来源：examples/01-agent-loop/00-observe-loop.ts</a:t>
            </a:r>
          </a:p>
        </p:txBody>
      </p:sp>
    </p:spTree>
    <p:extLst>
      <p:ext uri="{BB962C8B-B14F-4D97-AF65-F5344CB8AC3E}">
        <p14:creationId xmlns:p14="http://schemas.microsoft.com/office/powerpoint/2010/main" val="8792065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9A508877-9242-4248-9E14-6E16B535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40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工具能力必须同时回答两个问题：能做什么，以及允许做什么</a:t>
            </a:r>
          </a:p>
        </p:txBody>
      </p:sp>
      <p:sp>
        <p:nvSpPr>
          <p:cNvPr id="2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101C4733-097B-4B83-90AD-FDB8ADD5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762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tools-divider">
            <a:extLst xmlns:a="http://schemas.openxmlformats.org/drawingml/2006/main">
              <a:ext uri="{FF2B5EF4-FFF2-40B4-BE49-F238E27FC236}">
                <a16:creationId xmlns:a16="http://schemas.microsoft.com/office/drawing/2014/main" id="{19AA9768-6C37-4410-92C2-8D83EA61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85900"/>
            <a:ext cx="190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adonly-title">
            <a:extLst xmlns:a="http://schemas.openxmlformats.org/drawingml/2006/main">
              <a:ext uri="{FF2B5EF4-FFF2-40B4-BE49-F238E27FC236}">
                <a16:creationId xmlns:a16="http://schemas.microsoft.com/office/drawing/2014/main" id="{2DA55657-6AEE-4779-A2C5-7A5789CC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只读工具白名单</a:t>
            </a:r>
          </a:p>
        </p:txBody>
      </p:sp>
      <p:sp>
        <p:nvSpPr>
          <p:cNvPr id="5" name="readonly-code">
            <a:extLst xmlns:a="http://schemas.openxmlformats.org/drawingml/2006/main">
              <a:ext uri="{FF2B5EF4-FFF2-40B4-BE49-F238E27FC236}">
                <a16:creationId xmlns:a16="http://schemas.microsoft.com/office/drawing/2014/main" id="{88AED250-BC63-465F-89AC-B7CBAA1E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enlo"/>
                <a:ea typeface="Menlo"/>
                <a:cs typeface="Menlo"/>
              </a:defRPr>
            </a:pPr>
            <a:r>
              <a:rPr sz="1725" b="1">
                <a:solidFill>
                  <a:srgbClr val="3D8DFF"/>
                </a:solidFill>
                <a:latin typeface="Menlo"/>
                <a:ea typeface="Menlo"/>
                <a:cs typeface="Menlo"/>
              </a:rPr>
              <a:t>tools: ["read", "grep", "find", "ls"]</a:t>
            </a:r>
          </a:p>
        </p:txBody>
      </p:sp>
      <p:sp>
        <p:nvSpPr>
          <p:cNvPr id="6" name="readonly-body">
            <a:extLst xmlns:a="http://schemas.openxmlformats.org/drawingml/2006/main">
              <a:ext uri="{FF2B5EF4-FFF2-40B4-BE49-F238E27FC236}">
                <a16:creationId xmlns:a16="http://schemas.microsoft.com/office/drawing/2014/main" id="{8102BA45-D552-42A8-8EF4-82C5B2CE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4857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Agent 可以理解仓库，但无法写文件或执行任意命令。能力边界在 Session 创建时明确。</a:t>
            </a:r>
          </a:p>
        </p:txBody>
      </p:sp>
      <p:sp>
        <p:nvSpPr>
          <p:cNvPr id="7" name="readonly-fit">
            <a:extLst xmlns:a="http://schemas.openxmlformats.org/drawingml/2006/main">
              <a:ext uri="{FF2B5EF4-FFF2-40B4-BE49-F238E27FC236}">
                <a16:creationId xmlns:a16="http://schemas.microsoft.com/office/drawing/2014/main" id="{323A3BAC-50B8-4484-AF00-4CC984DE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适合：审阅、总结、检索</a:t>
            </a:r>
          </a:p>
        </p:txBody>
      </p:sp>
      <p:sp>
        <p:nvSpPr>
          <p:cNvPr id="8" name="custom-title">
            <a:extLst xmlns:a="http://schemas.openxmlformats.org/drawingml/2006/main">
              <a:ext uri="{FF2B5EF4-FFF2-40B4-BE49-F238E27FC236}">
                <a16:creationId xmlns:a16="http://schemas.microsoft.com/office/drawing/2014/main" id="{E2CF9F87-594B-4F16-9037-278D6445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811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结构化自定义工具</a:t>
            </a:r>
          </a:p>
        </p:txBody>
      </p:sp>
      <p:sp>
        <p:nvSpPr>
          <p:cNvPr id="9" name="custom-code">
            <a:extLst xmlns:a="http://schemas.openxmlformats.org/drawingml/2006/main">
              <a:ext uri="{FF2B5EF4-FFF2-40B4-BE49-F238E27FC236}">
                <a16:creationId xmlns:a16="http://schemas.microsoft.com/office/drawing/2014/main" id="{CCCC1E02-63B5-4F6D-8A8E-473846D9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3D8DFF"/>
                </a:solidFill>
                <a:latin typeface="Menlo"/>
                <a:ea typeface="Menlo"/>
                <a:cs typeface="Menlo"/>
              </a:rPr>
              <a:t>defineTool({ name, description, parameters, execute })</a:t>
            </a:r>
          </a:p>
        </p:txBody>
      </p:sp>
      <p:sp>
        <p:nvSpPr>
          <p:cNvPr id="10" name="custom-body">
            <a:extLst xmlns:a="http://schemas.openxmlformats.org/drawingml/2006/main">
              <a:ext uri="{FF2B5EF4-FFF2-40B4-BE49-F238E27FC236}">
                <a16:creationId xmlns:a16="http://schemas.microsoft.com/office/drawing/2014/main" id="{1693C0B5-C675-439A-8B68-AA6C0755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76600"/>
            <a:ext cx="4762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参数通过 TypeBox 定义，执行结果按统一结构返回。模型获得的是清晰契约，而不是模糊提示。</a:t>
            </a:r>
          </a:p>
        </p:txBody>
      </p:sp>
      <p:sp>
        <p:nvSpPr>
          <p:cNvPr id="11" name="custom-fit">
            <a:extLst xmlns:a="http://schemas.openxmlformats.org/drawingml/2006/main">
              <a:ext uri="{FF2B5EF4-FFF2-40B4-BE49-F238E27FC236}">
                <a16:creationId xmlns:a16="http://schemas.microsoft.com/office/drawing/2014/main" id="{CD99EC0F-7388-4703-A74D-AFA66DFE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9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适合：业务 API、时间、数据库、内部平台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7752C8C4-D2D5-4008-AF1B-F3CF8C39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来源：01-readonly-tools.ts · 02-custom-tool.ts</a:t>
            </a:r>
          </a:p>
        </p:txBody>
      </p:sp>
    </p:spTree>
    <p:extLst>
      <p:ext uri="{BB962C8B-B14F-4D97-AF65-F5344CB8AC3E}">
        <p14:creationId xmlns:p14="http://schemas.microsoft.com/office/powerpoint/2010/main" val="13051264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65F9668A-A2C4-4927-85BA-97760C0D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40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上下文工程的重点不是“更长”，而是规则更清楚</a:t>
            </a:r>
          </a:p>
        </p:txBody>
      </p:sp>
      <p:sp>
        <p:nvSpPr>
          <p:cNvPr id="2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A1745861-8441-4DD1-8D57-34E1121E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762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context-layer-0">
            <a:extLst xmlns:a="http://schemas.openxmlformats.org/drawingml/2006/main">
              <a:ext uri="{FF2B5EF4-FFF2-40B4-BE49-F238E27FC236}">
                <a16:creationId xmlns:a16="http://schemas.microsoft.com/office/drawing/2014/main" id="{95F3EF8E-2390-4ADE-853E-922A4573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0553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</p:sp>
      <p:sp>
        <p:nvSpPr>
          <p:cNvPr id="4" name="context-layer-title-0">
            <a:extLst xmlns:a="http://schemas.openxmlformats.org/drawingml/2006/main">
              <a:ext uri="{FF2B5EF4-FFF2-40B4-BE49-F238E27FC236}">
                <a16:creationId xmlns:a16="http://schemas.microsoft.com/office/drawing/2014/main" id="{DD0DBBF1-EF85-4E0F-A411-525B75C0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Prompt</a:t>
            </a:r>
          </a:p>
        </p:txBody>
      </p:sp>
      <p:sp>
        <p:nvSpPr>
          <p:cNvPr id="5" name="context-layer-body-0">
            <a:extLst xmlns:a="http://schemas.openxmlformats.org/drawingml/2006/main">
              <a:ext uri="{FF2B5EF4-FFF2-40B4-BE49-F238E27FC236}">
                <a16:creationId xmlns:a16="http://schemas.microsoft.com/office/drawing/2014/main" id="{CADD1E92-1620-4AE1-860F-9A8B4629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09750"/>
            <a:ext cx="7277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稳定的行为规则与输出风格，例如：始终用简洁中文回答</a:t>
            </a:r>
          </a:p>
        </p:txBody>
      </p:sp>
      <p:sp>
        <p:nvSpPr>
          <p:cNvPr id="6" name="context-layer-1">
            <a:extLst xmlns:a="http://schemas.openxmlformats.org/drawingml/2006/main">
              <a:ext uri="{FF2B5EF4-FFF2-40B4-BE49-F238E27FC236}">
                <a16:creationId xmlns:a16="http://schemas.microsoft.com/office/drawing/2014/main" id="{12C48F4E-A6AD-4D5B-89E4-8615C68C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47950"/>
            <a:ext cx="9791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context-layer-title-1">
            <a:extLst xmlns:a="http://schemas.openxmlformats.org/drawingml/2006/main">
              <a:ext uri="{FF2B5EF4-FFF2-40B4-BE49-F238E27FC236}">
                <a16:creationId xmlns:a16="http://schemas.microsoft.com/office/drawing/2014/main" id="{F88908E7-2346-4BB9-80D7-54EFC330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ResourceLoader</a:t>
            </a:r>
          </a:p>
        </p:txBody>
      </p:sp>
      <p:sp>
        <p:nvSpPr>
          <p:cNvPr id="8" name="context-layer-body-1">
            <a:extLst xmlns:a="http://schemas.openxmlformats.org/drawingml/2006/main">
              <a:ext uri="{FF2B5EF4-FFF2-40B4-BE49-F238E27FC236}">
                <a16:creationId xmlns:a16="http://schemas.microsoft.com/office/drawing/2014/main" id="{47912C18-70DA-4220-BB40-CD08C814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19400"/>
            <a:ext cx="651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集中加载工作目录、Agent 资源与覆盖规则，并在创建 Session 前 reload()</a:t>
            </a:r>
          </a:p>
        </p:txBody>
      </p:sp>
      <p:sp>
        <p:nvSpPr>
          <p:cNvPr id="9" name="context-layer-2">
            <a:extLst xmlns:a="http://schemas.openxmlformats.org/drawingml/2006/main">
              <a:ext uri="{FF2B5EF4-FFF2-40B4-BE49-F238E27FC236}">
                <a16:creationId xmlns:a16="http://schemas.microsoft.com/office/drawing/2014/main" id="{BAD15DDC-DB61-4BA1-9625-B83FC355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57600"/>
            <a:ext cx="9029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10" name="context-layer-title-2">
            <a:extLst xmlns:a="http://schemas.openxmlformats.org/drawingml/2006/main">
              <a:ext uri="{FF2B5EF4-FFF2-40B4-BE49-F238E27FC236}">
                <a16:creationId xmlns:a16="http://schemas.microsoft.com/office/drawing/2014/main" id="{A5876708-03C3-4648-953C-48F4AF69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290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Prompt</a:t>
            </a:r>
          </a:p>
        </p:txBody>
      </p:sp>
      <p:sp>
        <p:nvSpPr>
          <p:cNvPr id="11" name="context-layer-body-2">
            <a:extLst xmlns:a="http://schemas.openxmlformats.org/drawingml/2006/main">
              <a:ext uri="{FF2B5EF4-FFF2-40B4-BE49-F238E27FC236}">
                <a16:creationId xmlns:a16="http://schemas.microsoft.com/office/drawing/2014/main" id="{80EB4B50-F03D-430D-8384-44EC2100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29050"/>
            <a:ext cx="575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当前任务、目标、输入与期望产物</a:t>
            </a:r>
          </a:p>
        </p:txBody>
      </p:sp>
      <p:sp>
        <p:nvSpPr>
          <p:cNvPr id="12" name="context-layer-3">
            <a:extLst xmlns:a="http://schemas.openxmlformats.org/drawingml/2006/main">
              <a:ext uri="{FF2B5EF4-FFF2-40B4-BE49-F238E27FC236}">
                <a16:creationId xmlns:a16="http://schemas.microsoft.com/office/drawing/2014/main" id="{6D03BD38-E016-476B-A433-1D31D85A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67250"/>
            <a:ext cx="8267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3" name="context-layer-title-3">
            <a:extLst xmlns:a="http://schemas.openxmlformats.org/drawingml/2006/main">
              <a:ext uri="{FF2B5EF4-FFF2-40B4-BE49-F238E27FC236}">
                <a16:creationId xmlns:a16="http://schemas.microsoft.com/office/drawing/2014/main" id="{7898A479-BF64-43A0-8FE5-613A74A9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387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526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 &amp; Tool Results</a:t>
            </a:r>
          </a:p>
        </p:txBody>
      </p:sp>
      <p:sp>
        <p:nvSpPr>
          <p:cNvPr id="14" name="context-layer-body-3">
            <a:extLst xmlns:a="http://schemas.openxmlformats.org/drawingml/2006/main">
              <a:ext uri="{FF2B5EF4-FFF2-40B4-BE49-F238E27FC236}">
                <a16:creationId xmlns:a16="http://schemas.microsoft.com/office/drawing/2014/main" id="{97491400-9F91-43B9-8DEF-6FEAD760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38700"/>
            <a:ext cx="499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把文件、工具结果与可验证证据带回循环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36C1CEF1-9A14-4A1B-B370-2FC4A13D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来源：examples/02-context/00-system-prompt.ts</a:t>
            </a:r>
          </a:p>
        </p:txBody>
      </p:sp>
    </p:spTree>
    <p:extLst>
      <p:ext uri="{BB962C8B-B14F-4D97-AF65-F5344CB8AC3E}">
        <p14:creationId xmlns:p14="http://schemas.microsoft.com/office/powerpoint/2010/main" val="5058032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CACCC5AC-D2EC-4579-86C7-7AEAA152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下一步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675B4D6B-FC13-483D-8629-72D06562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8286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先把三个示例都跑一遍，</a:t>
            </a:r>
          </a:p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再开始增加复杂能力。</a:t>
            </a:r>
          </a:p>
        </p:txBody>
      </p:sp>
      <p:sp>
        <p:nvSpPr>
          <p:cNvPr id="3" name="close-num-0">
            <a:extLst xmlns:a="http://schemas.openxmlformats.org/drawingml/2006/main">
              <a:ext uri="{FF2B5EF4-FFF2-40B4-BE49-F238E27FC236}">
                <a16:creationId xmlns:a16="http://schemas.microsoft.com/office/drawing/2014/main" id="{8E33FB0E-AC53-4342-8942-5DF9FBDE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close-command-0">
            <a:extLst xmlns:a="http://schemas.openxmlformats.org/drawingml/2006/main">
              <a:ext uri="{FF2B5EF4-FFF2-40B4-BE49-F238E27FC236}">
                <a16:creationId xmlns:a16="http://schemas.microsoft.com/office/drawing/2014/main" id="{2A7FF05A-7D15-4935-BC04-68CE4E5B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385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111111"/>
                </a:solidFill>
                <a:latin typeface="Menlo"/>
                <a:ea typeface="Menlo"/>
                <a:cs typeface="Menlo"/>
              </a:rPr>
              <a:t>pnpm example:minimal</a:t>
            </a:r>
          </a:p>
        </p:txBody>
      </p:sp>
      <p:sp>
        <p:nvSpPr>
          <p:cNvPr id="5" name="close-desc-0">
            <a:extLst xmlns:a="http://schemas.openxmlformats.org/drawingml/2006/main">
              <a:ext uri="{FF2B5EF4-FFF2-40B4-BE49-F238E27FC236}">
                <a16:creationId xmlns:a16="http://schemas.microsoft.com/office/drawing/2014/main" id="{9ACEDE25-ED8F-473D-9CCD-00CEA110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385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确认 Session 与流式输出</a:t>
            </a:r>
          </a:p>
        </p:txBody>
      </p:sp>
      <p:sp>
        <p:nvSpPr>
          <p:cNvPr id="6" name="close-num-1">
            <a:extLst xmlns:a="http://schemas.openxmlformats.org/drawingml/2006/main">
              <a:ext uri="{FF2B5EF4-FFF2-40B4-BE49-F238E27FC236}">
                <a16:creationId xmlns:a16="http://schemas.microsoft.com/office/drawing/2014/main" id="{3CE11A5C-552A-4DBD-AA78-7ECD6524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close-command-1">
            <a:extLst xmlns:a="http://schemas.openxmlformats.org/drawingml/2006/main">
              <a:ext uri="{FF2B5EF4-FFF2-40B4-BE49-F238E27FC236}">
                <a16:creationId xmlns:a16="http://schemas.microsoft.com/office/drawing/2014/main" id="{4708599A-C0A7-4C5E-95C7-DE192446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434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111111"/>
                </a:solidFill>
                <a:latin typeface="Menlo"/>
                <a:ea typeface="Menlo"/>
                <a:cs typeface="Menlo"/>
              </a:rPr>
              <a:t>pnpm example:loop</a:t>
            </a:r>
          </a:p>
        </p:txBody>
      </p:sp>
      <p:sp>
        <p:nvSpPr>
          <p:cNvPr id="8" name="close-desc-1">
            <a:extLst xmlns:a="http://schemas.openxmlformats.org/drawingml/2006/main">
              <a:ext uri="{FF2B5EF4-FFF2-40B4-BE49-F238E27FC236}">
                <a16:creationId xmlns:a16="http://schemas.microsoft.com/office/drawing/2014/main" id="{EF9E0C28-0977-4314-B2D8-506EEEE5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434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观察事件和工具调用</a:t>
            </a:r>
          </a:p>
        </p:txBody>
      </p:sp>
      <p:sp>
        <p:nvSpPr>
          <p:cNvPr id="9" name="close-num-2">
            <a:extLst xmlns:a="http://schemas.openxmlformats.org/drawingml/2006/main">
              <a:ext uri="{FF2B5EF4-FFF2-40B4-BE49-F238E27FC236}">
                <a16:creationId xmlns:a16="http://schemas.microsoft.com/office/drawing/2014/main" id="{9C5EF5CA-4AFE-46A7-B8D2-38896EBD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close-command-2">
            <a:extLst xmlns:a="http://schemas.openxmlformats.org/drawingml/2006/main">
              <a:ext uri="{FF2B5EF4-FFF2-40B4-BE49-F238E27FC236}">
                <a16:creationId xmlns:a16="http://schemas.microsoft.com/office/drawing/2014/main" id="{1B3E15C5-E389-42C0-B015-BF0494B3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111111"/>
                </a:solidFill>
                <a:latin typeface="Menlo"/>
                <a:ea typeface="Menlo"/>
                <a:cs typeface="Menlo"/>
              </a:rPr>
              <a:t>pnpm example:context</a:t>
            </a:r>
          </a:p>
        </p:txBody>
      </p:sp>
      <p:sp>
        <p:nvSpPr>
          <p:cNvPr id="11" name="close-desc-2">
            <a:extLst xmlns:a="http://schemas.openxmlformats.org/drawingml/2006/main">
              <a:ext uri="{FF2B5EF4-FFF2-40B4-BE49-F238E27FC236}">
                <a16:creationId xmlns:a16="http://schemas.microsoft.com/office/drawing/2014/main" id="{F9BD52EA-CAC5-4C52-A839-ECA89C3D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482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验证稳定的系统规则</a:t>
            </a:r>
          </a:p>
        </p:txBody>
      </p:sp>
      <p:sp>
        <p:nvSpPr>
          <p:cNvPr id="12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52B0B3EA-90FF-4056-AB95-FA722407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lose-strap">
            <a:extLst xmlns:a="http://schemas.openxmlformats.org/drawingml/2006/main">
              <a:ext uri="{FF2B5EF4-FFF2-40B4-BE49-F238E27FC236}">
                <a16:creationId xmlns:a16="http://schemas.microsoft.com/office/drawing/2014/main" id="{29E9F2F1-EA35-4DF0-BBC4-A91A1B88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038350"/>
            <a:ext cx="11239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可运行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可观察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可控制</a:t>
            </a:r>
          </a:p>
        </p:txBody>
      </p:sp>
    </p:spTree>
    <p:extLst>
      <p:ext uri="{BB962C8B-B14F-4D97-AF65-F5344CB8AC3E}">
        <p14:creationId xmlns:p14="http://schemas.microsoft.com/office/powerpoint/2010/main" val="1317311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2026-08-17T17:46:00.9640000Z</dcterms:created>
  <dcterms:modified xsi:type="dcterms:W3CDTF">2026-08-17T17:46:00.9640000Z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1.0.144</vt:lpwstr>
  </op:property>
  <op:property fmtid="{D5CDD505-2E9C-101B-9397-08002B2CF9AE}" pid="3" name="OfficeCLI.LastModified">
    <vt:lpwstr xmlns:vt="http://schemas.openxmlformats.org/officeDocument/2006/docPropsVTypes">2026-08-17T17:46:26Z</vt:lpwstr>
  </op:property>
</op:Properties>
</file>