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f10ab664bd4728" /><Relationship Type="http://schemas.openxmlformats.org/officeDocument/2006/relationships/extended-properties" Target="/docProps/app.xml" Id="Racb73311cae14245" /><Relationship Type="http://schemas.openxmlformats.org/officeDocument/2006/relationships/officeDocument" Target="/ppt/presentation.xml" Id="R3daa201448e84af8" /><Relationship Type="http://schemas.openxmlformats.org/officeDocument/2006/relationships/custom-properties" Target="/docProps/custom.xml" Id="R8483814dfc0f47e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465ba92efdf14bce"/>
  </p:sldMasterIdLst>
  <p:notesMasterIdLst>
    <p:notesMasterId xmlns:r="http://schemas.openxmlformats.org/officeDocument/2006/relationships" r:id="R89504a7bdd1c4a99"/>
  </p:notesMasterIdLst>
  <p:sldIdLst>
    <p:sldId xmlns:r="http://schemas.openxmlformats.org/officeDocument/2006/relationships" id="256" r:id="R9ec2b07b2f434518"/>
    <p:sldId xmlns:r="http://schemas.openxmlformats.org/officeDocument/2006/relationships" id="257" r:id="Ra5ccc641438f4c9a"/>
    <p:sldId xmlns:r="http://schemas.openxmlformats.org/officeDocument/2006/relationships" id="258" r:id="R9ed54ad36f2b4947"/>
    <p:sldId xmlns:r="http://schemas.openxmlformats.org/officeDocument/2006/relationships" id="259" r:id="R5d1be127864c4f8c"/>
    <p:sldId xmlns:r="http://schemas.openxmlformats.org/officeDocument/2006/relationships" id="260" r:id="Ra1f7082851534b5c"/>
    <p:sldId xmlns:r="http://schemas.openxmlformats.org/officeDocument/2006/relationships" id="261" r:id="R375fce1910ca445e"/>
    <p:sldId xmlns:r="http://schemas.openxmlformats.org/officeDocument/2006/relationships" id="262" r:id="R97572eee1a4b41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706293b1e64b9b" /><Relationship Type="http://schemas.openxmlformats.org/officeDocument/2006/relationships/slideMaster" Target="/ppt/slideMasters/slideMaster1.xml" Id="R465ba92efdf14bce" /><Relationship Type="http://schemas.openxmlformats.org/officeDocument/2006/relationships/notesMaster" Target="/ppt/notesMasters/notesMaster1.xml" Id="R89504a7bdd1c4a99" /><Relationship Type="http://schemas.openxmlformats.org/officeDocument/2006/relationships/presProps" Target="/ppt/presProps.xml" Id="R51eaf4f1a3d5480a" /><Relationship Type="http://schemas.openxmlformats.org/officeDocument/2006/relationships/tableStyles" Target="/ppt/tableStyles.xml" Id="R89bf1cbf7bf64bf3" /><Relationship Type="http://schemas.openxmlformats.org/officeDocument/2006/relationships/slide" Target="/ppt/slides/slide1.xml" Id="R9ec2b07b2f434518" /><Relationship Type="http://schemas.openxmlformats.org/officeDocument/2006/relationships/slide" Target="/ppt/slides/slide2.xml" Id="Ra5ccc641438f4c9a" /><Relationship Type="http://schemas.openxmlformats.org/officeDocument/2006/relationships/slide" Target="/ppt/slides/slide3.xml" Id="R9ed54ad36f2b4947" /><Relationship Type="http://schemas.openxmlformats.org/officeDocument/2006/relationships/slide" Target="/ppt/slides/slide4.xml" Id="R5d1be127864c4f8c" /><Relationship Type="http://schemas.openxmlformats.org/officeDocument/2006/relationships/slide" Target="/ppt/slides/slide5.xml" Id="Ra1f7082851534b5c" /><Relationship Type="http://schemas.openxmlformats.org/officeDocument/2006/relationships/slide" Target="/ppt/slides/slide6.xml" Id="R375fce1910ca445e" /><Relationship Type="http://schemas.openxmlformats.org/officeDocument/2006/relationships/slide" Target="/ppt/slides/slide7.xml" Id="R97572eee1a4b41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eb9933fa7f49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75c3873f0b4a16" /><Relationship Type="http://schemas.openxmlformats.org/officeDocument/2006/relationships/notesMaster" Target="/ppt/notesMasters/notesMaster1.xml" Id="R6e5abfa21f3f49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a2ad038d5149ba" /><Relationship Type="http://schemas.openxmlformats.org/officeDocument/2006/relationships/notesMaster" Target="/ppt/notesMasters/notesMaster1.xml" Id="R62ceb8e8eb0342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025251dbf84248" /><Relationship Type="http://schemas.openxmlformats.org/officeDocument/2006/relationships/notesMaster" Target="/ppt/notesMasters/notesMaster1.xml" Id="Re3b0655f3f1344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b785a2b3624fda" /><Relationship Type="http://schemas.openxmlformats.org/officeDocument/2006/relationships/notesMaster" Target="/ppt/notesMasters/notesMaster1.xml" Id="Rec9439ae175d40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eacb071c554b2b" /><Relationship Type="http://schemas.openxmlformats.org/officeDocument/2006/relationships/notesMaster" Target="/ppt/notesMasters/notesMaster1.xml" Id="R492a83cdce9246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70961cadd94875" /><Relationship Type="http://schemas.openxmlformats.org/officeDocument/2006/relationships/notesMaster" Target="/ppt/notesMasters/notesMaster1.xml" Id="R8fa3073706424d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b36a43840446ee" /><Relationship Type="http://schemas.openxmlformats.org/officeDocument/2006/relationships/notesMaster" Target="/ppt/notesMasters/notesMaster1.xml" Id="R7955aa6acd6b45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这一页先把两个模块放在同一个工程问题里理解。前面的示例已经证明 Agent 可以回答问题、调用工具、遵循上下文；但如果进程结束，历史也一起消失，它就很难承担跨小时、跨天的工作。另一方面，如果每增加日志、权限、观测能力都去修改核心循环，系统会越来越脆弱。因此这一章关注两种连续性：Session 让工作可以延续，Extension 让能力可以增长。</a:t>
            </a:r>
          </a:p>
          <a:p>
            <a:r>
              <a:rPr lang="en-US"/>
              <a:t/>
            </a:r>
          </a:p>
          <a:p>
            <a:r>
              <a:rPr lang="en-US"/>
              <a:t>转场：先看第一种连续性——如何把会话从内存保存到文件。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examples/03-sessions/演讲稿.md</a:t>
            </a:r>
          </a:p>
          <a:p>
            <a:r>
              <a:rPr lang="en-US"/>
              <a:t>- Local: examples/04-extensibility/演讲稿.md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请先运行 00-persistent-session.ts。代码的关键并不在 prompt，而在 SessionManager.create(process.cwd())。它先创建持久化管理器，再通过 createAgentSession 注入会话。运行时打印 session.sessionFile，可以确认当前会话已经对应到一个文件。这里仍然用 try/finally 和 dispose 管理生命周期，因为持久化并不意味着资源可以不释放。prompt 里的 checkpoint 只是一个便于在会话记录中查找的标记。</a:t>
            </a:r>
          </a:p>
          <a:p>
            <a:r>
              <a:rPr lang="en-US"/>
              <a:t/>
            </a:r>
          </a:p>
          <a:p>
            <a:r>
              <a:rPr lang="en-US"/>
              <a:t>可以提醒观众：路径和具体存储格式由 SDK 管理，业务代码只负责声明需要持久化。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examples/03-sessions/00-persistent-session.ts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持久化最直接的价值是复盘。我们可以回看模型收到什么输入、执行了什么步骤，以及结论如何形成。第二个价值是恢复：长任务不必因为进程退出而从头开始。第三个价值是分支：当同一问题有多个方案时，可以从一个历史节点继续探索，而不是覆盖原有路径。</a:t>
            </a:r>
          </a:p>
          <a:p>
            <a:r>
              <a:rPr lang="en-US"/>
              <a:t/>
            </a:r>
          </a:p>
          <a:p>
            <a:r>
              <a:rPr lang="en-US"/>
              <a:t>需要明确边界：当前这个代码示例直接演示的是会话落盘；恢复和分支是建立在持久化之上的工作流能力，不要把它们说成这十几行代码已经全部实现。核心判断是，生产系统需要管理 session lifecycle，而不仅仅是优化 prompt。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examples/03-sessions/演讲稿.md</a:t>
            </a:r>
          </a:p>
          <a:p>
            <a:r>
              <a:rPr lang="en-US"/>
              <a:t>- Local: examples/03-sessions/00-persistent-session.ts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接下来进入第二种连续性：能力如何增长。00-inline-extension.ts 仍然通过 DefaultResourceLoader 组织资源，但新增了 extensionFactories。每个工厂会收到 pi 运行时对象，我们在其中用 pi.on 监听 agent_start。当 Agent 启动时，扩展输出一条日志。</a:t>
            </a:r>
          </a:p>
          <a:p>
            <a:r>
              <a:rPr lang="en-US"/>
              <a:t/>
            </a:r>
          </a:p>
          <a:p>
            <a:r>
              <a:rPr lang="en-US"/>
              <a:t>这里最重要的不是这条日志本身，而是扩展点的位置：行为挂接在生命周期事件上，核心 Agent Loop 不需要被修改。loader.reload() 负责加载配置，然后创建 Session，运行时自然触发扩展。实际项目中，同一机制可以承载日志、指标、策略检查或宿主集成。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examples/04-extensibility/00-inline-extension.ts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这一页用来避免三个概念混淆。Tool 是模型能够主动调用的一次动作，它通常有明确参数和返回值。Skill 是完成某类任务的方法与规范，解决“应该按什么流程做”。Extension 位于运行时层，解决“系统在生命周期中应该发生什么”，例如监听事件、注册策略或连接宿主能力。</a:t>
            </a:r>
          </a:p>
          <a:p>
            <a:r>
              <a:rPr lang="en-US"/>
              <a:t/>
            </a:r>
          </a:p>
          <a:p>
            <a:r>
              <a:rPr lang="en-US"/>
              <a:t>一个系统可以同时使用三者：Skill 指导数据分析流程，Tool 执行 SQL 查询，Extension 记录每次工具调用并上报指标。边界清楚以后，新能力才能被复用，也不会把所有逻辑塞进一个巨大工具或一个超长提示词。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examples/04-extensibility/演讲稿.md</a:t>
            </a:r>
          </a:p>
          <a:p>
            <a:r>
              <a:rPr lang="en-US"/>
              <a:t>- Local: examples/04-extensibility/00-inline-extension.ts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最后请观众依次运行两个命令。pnpm example:sessions 用于确认 Session 文件和 checkpoint；pnpm example:extension 用于观察 agent_start 日志。完成后可以布置一个组合练习：为持久化会话增加审计或观测扩展，例如记录会话文件路径、启动时间和关键生命周期事件。</a:t>
            </a:r>
          </a:p>
          <a:p>
            <a:r>
              <a:rPr lang="en-US"/>
              <a:t/>
            </a:r>
          </a:p>
          <a:p>
            <a:r>
              <a:rPr lang="en-US"/>
              <a:t>本章的结论可以用三个词收束：可追溯、可恢复、可扩展。Session 保存工作的连续性，Extension 保存架构的可维护性。二者结合以后，Agent 才开始从演示代码走向长期运行的工程系统。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Local: package.json</a:t>
            </a:r>
          </a:p>
          <a:p>
            <a:r>
              <a:rPr lang="en-US"/>
              <a:t>- Local: examples/03-sessions/演讲稿.md</a:t>
            </a:r>
          </a:p>
          <a:p>
            <a:r>
              <a:rPr lang="en-US"/>
              <a:t>- Local: examples/04-extensibility/演讲稿.md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4a1793aa54442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ca59b3e48f487e" /><Relationship Type="http://schemas.openxmlformats.org/officeDocument/2006/relationships/slideLayout" Target="/ppt/slideLayouts/slideLayout1.xml" Id="Ra3b9f75cec67446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b9f75cec6744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f26a9738f4094" /><Relationship Type="http://schemas.openxmlformats.org/officeDocument/2006/relationships/notesSlide" Target="/ppt/notesSlides/notesSlide1.xml" Id="R61a67e7315b74b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6a3c848f84248" /><Relationship Type="http://schemas.openxmlformats.org/officeDocument/2006/relationships/notesSlide" Target="/ppt/notesSlides/notesSlide2.xml" Id="R118c067960c04f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d41734f114bd1" /><Relationship Type="http://schemas.openxmlformats.org/officeDocument/2006/relationships/notesSlide" Target="/ppt/notesSlides/notesSlide3.xml" Id="Rddeb395375884c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ec1da254948cb" /><Relationship Type="http://schemas.openxmlformats.org/officeDocument/2006/relationships/notesSlide" Target="/ppt/notesSlides/notesSlide4.xml" Id="Rd9feac422e7940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c4518d57a4312" /><Relationship Type="http://schemas.openxmlformats.org/officeDocument/2006/relationships/notesSlide" Target="/ppt/notesSlides/notesSlide5.xml" Id="R1ce0d25e651240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9a0e43fa347d8" /><Relationship Type="http://schemas.openxmlformats.org/officeDocument/2006/relationships/notesSlide" Target="/ppt/notesSlides/notesSlide6.xml" Id="Ra6e4c9ef8f514a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852f9d1794d9f" /><Relationship Type="http://schemas.openxmlformats.org/officeDocument/2006/relationships/notesSlide" Target="/ppt/notesSlides/notesSlide7.xml" Id="R9572f8561c524b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field">
            <a:extLst xmlns:a="http://schemas.openxmlformats.org/drawingml/2006/main">
              <a:ext uri="{FF2B5EF4-FFF2-40B4-BE49-F238E27FC236}">
                <a16:creationId xmlns:a16="http://schemas.microsoft.com/office/drawing/2014/main" id="{47F4400F-6F7A-4FFA-B5CF-605B59DC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ssion-block">
            <a:extLst xmlns:a="http://schemas.openxmlformats.org/drawingml/2006/main">
              <a:ext uri="{FF2B5EF4-FFF2-40B4-BE49-F238E27FC236}">
                <a16:creationId xmlns:a16="http://schemas.microsoft.com/office/drawing/2014/main" id="{B30029F7-D173-47A0-B87E-FBD0FDF9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43000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xtension-block">
            <a:extLst xmlns:a="http://schemas.openxmlformats.org/drawingml/2006/main">
              <a:ext uri="{FF2B5EF4-FFF2-40B4-BE49-F238E27FC236}">
                <a16:creationId xmlns:a16="http://schemas.microsoft.com/office/drawing/2014/main" id="{599471C5-77F0-438C-A718-DACC9972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051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DF0A57-FD1C-4A37-AD93-328ACEF4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Pi Agent SDK · 第二册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F928014-8306-4209-9147-EFC52F6B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让 Agent 记住，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也能持续扩展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EEC8CD4-CF04-412A-81C9-DB01932F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Sessions 与 Extensibility：从一次对话走向可恢复、可插拔的工作流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CB03ED63-819B-4903-97F6-AAF4D706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pi-tutorial · examples/03-sessions · 04-extensibility</a:t>
            </a:r>
          </a:p>
        </p:txBody>
      </p:sp>
    </p:spTree>
    <p:extLst>
      <p:ext uri="{BB962C8B-B14F-4D97-AF65-F5344CB8AC3E}">
        <p14:creationId xmlns:p14="http://schemas.microsoft.com/office/powerpoint/2010/main" val="1716170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2">
            <a:extLst xmlns:a="http://schemas.openxmlformats.org/drawingml/2006/main">
              <a:ext uri="{FF2B5EF4-FFF2-40B4-BE49-F238E27FC236}">
                <a16:creationId xmlns:a16="http://schemas.microsoft.com/office/drawing/2014/main" id="{12FC7C55-8D51-47DB-8BE4-28059C2E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生产级 Agent 需要两种连续性：工作可恢复，能力可扩展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B8A047DA-0180-49FF-9D17-43EDF204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progress-line">
            <a:extLst xmlns:a="http://schemas.openxmlformats.org/drawingml/2006/main">
              <a:ext uri="{FF2B5EF4-FFF2-40B4-BE49-F238E27FC236}">
                <a16:creationId xmlns:a16="http://schemas.microsoft.com/office/drawing/2014/main" id="{6ABBF2E1-8F06-4593-BBB4-221603BC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981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dot-0">
            <a:extLst xmlns:a="http://schemas.openxmlformats.org/drawingml/2006/main">
              <a:ext uri="{FF2B5EF4-FFF2-40B4-BE49-F238E27FC236}">
                <a16:creationId xmlns:a16="http://schemas.microsoft.com/office/drawing/2014/main" id="{05997640-EA8A-4D47-9722-9A1BBF15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gress-label-0">
            <a:extLst xmlns:a="http://schemas.openxmlformats.org/drawingml/2006/main">
              <a:ext uri="{FF2B5EF4-FFF2-40B4-BE49-F238E27FC236}">
                <a16:creationId xmlns:a16="http://schemas.microsoft.com/office/drawing/2014/main" id="{AFF9D4AA-13F5-43D4-B979-C7709BEF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一次性会话</a:t>
            </a:r>
          </a:p>
        </p:txBody>
      </p:sp>
      <p:sp>
        <p:nvSpPr>
          <p:cNvPr id="6" name="progress-body-0">
            <a:extLst xmlns:a="http://schemas.openxmlformats.org/drawingml/2006/main">
              <a:ext uri="{FF2B5EF4-FFF2-40B4-BE49-F238E27FC236}">
                <a16:creationId xmlns:a16="http://schemas.microsoft.com/office/drawing/2014/main" id="{BA930C11-5D5B-4B3C-8410-C81B9AB8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Prompt 完成后</a:t>
            </a:r>
          </a:p>
          <a:p xmlns:a="http://schemas.openxmlformats.org/drawingml/2006/main">
            <a:pPr algn="l">
              <a:defRPr sz="172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上下文随进程结束</a:t>
            </a:r>
          </a:p>
        </p:txBody>
      </p:sp>
      <p:sp>
        <p:nvSpPr>
          <p:cNvPr id="7" name="progress-dot-1">
            <a:extLst xmlns:a="http://schemas.openxmlformats.org/drawingml/2006/main">
              <a:ext uri="{FF2B5EF4-FFF2-40B4-BE49-F238E27FC236}">
                <a16:creationId xmlns:a16="http://schemas.microsoft.com/office/drawing/2014/main" id="{F35E1935-4686-4C86-A9AE-F378D323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14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gress-label-1">
            <a:extLst xmlns:a="http://schemas.openxmlformats.org/drawingml/2006/main">
              <a:ext uri="{FF2B5EF4-FFF2-40B4-BE49-F238E27FC236}">
                <a16:creationId xmlns:a16="http://schemas.microsoft.com/office/drawing/2014/main" id="{EFEAA520-32D5-40F5-A94E-BBB5D92B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持久化 Session</a:t>
            </a:r>
          </a:p>
        </p:txBody>
      </p:sp>
      <p:sp>
        <p:nvSpPr>
          <p:cNvPr id="9" name="progress-body-1">
            <a:extLst xmlns:a="http://schemas.openxmlformats.org/drawingml/2006/main">
              <a:ext uri="{FF2B5EF4-FFF2-40B4-BE49-F238E27FC236}">
                <a16:creationId xmlns:a16="http://schemas.microsoft.com/office/drawing/2014/main" id="{C80C3119-8B71-407A-8582-DBC126B8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481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历史落盘</a:t>
            </a:r>
          </a:p>
          <a:p xmlns:a="http://schemas.openxmlformats.org/drawingml/2006/main">
            <a:pPr algn="l">
              <a:defRPr sz="172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可以追溯与恢复</a:t>
            </a:r>
          </a:p>
        </p:txBody>
      </p:sp>
      <p:sp>
        <p:nvSpPr>
          <p:cNvPr id="10" name="progress-dot-2">
            <a:extLst xmlns:a="http://schemas.openxmlformats.org/drawingml/2006/main">
              <a:ext uri="{FF2B5EF4-FFF2-40B4-BE49-F238E27FC236}">
                <a16:creationId xmlns:a16="http://schemas.microsoft.com/office/drawing/2014/main" id="{B91D1186-E7B9-40AD-8CBF-425842A4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gress-label-2">
            <a:extLst xmlns:a="http://schemas.openxmlformats.org/drawingml/2006/main">
              <a:ext uri="{FF2B5EF4-FFF2-40B4-BE49-F238E27FC236}">
                <a16:creationId xmlns:a16="http://schemas.microsoft.com/office/drawing/2014/main" id="{8044F30C-D3DB-435D-AE6E-FA671176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可插拔 Extension</a:t>
            </a:r>
          </a:p>
        </p:txBody>
      </p:sp>
      <p:sp>
        <p:nvSpPr>
          <p:cNvPr id="12" name="progress-body-2">
            <a:extLst xmlns:a="http://schemas.openxmlformats.org/drawingml/2006/main">
              <a:ext uri="{FF2B5EF4-FFF2-40B4-BE49-F238E27FC236}">
                <a16:creationId xmlns:a16="http://schemas.microsoft.com/office/drawing/2014/main" id="{F8264F57-8243-4907-846E-1733C509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481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生命周期可监听</a:t>
            </a:r>
          </a:p>
          <a:p xmlns:a="http://schemas.openxmlformats.org/drawingml/2006/main">
            <a:pPr algn="l">
              <a:defRPr sz="172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能力按模块增长</a:t>
            </a:r>
          </a:p>
        </p:txBody>
      </p:sp>
      <p:sp>
        <p:nvSpPr>
          <p:cNvPr id="13" name="progress-session">
            <a:extLst xmlns:a="http://schemas.openxmlformats.org/drawingml/2006/main">
              <a:ext uri="{FF2B5EF4-FFF2-40B4-BE49-F238E27FC236}">
                <a16:creationId xmlns:a16="http://schemas.microsoft.com/office/drawing/2014/main" id="{512739CE-11D7-4BCE-BC4D-69BF18EE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Session lifecycle</a:t>
            </a:r>
          </a:p>
        </p:txBody>
      </p:sp>
      <p:sp>
        <p:nvSpPr>
          <p:cNvPr id="14" name="progress-runtime">
            <a:extLst xmlns:a="http://schemas.openxmlformats.org/drawingml/2006/main">
              <a:ext uri="{FF2B5EF4-FFF2-40B4-BE49-F238E27FC236}">
                <a16:creationId xmlns:a16="http://schemas.microsoft.com/office/drawing/2014/main" id="{2BE53A68-EB55-44FF-A397-753E57DE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24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Runtime lifecycle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6C2F41AA-18A9-4E4C-A2E9-8D9DEFA4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pi-tutorial · examples/03–04</a:t>
            </a:r>
          </a:p>
        </p:txBody>
      </p:sp>
    </p:spTree>
    <p:extLst>
      <p:ext uri="{BB962C8B-B14F-4D97-AF65-F5344CB8AC3E}">
        <p14:creationId xmlns:p14="http://schemas.microsoft.com/office/powerpoint/2010/main" val="1238085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3">
            <a:extLst xmlns:a="http://schemas.openxmlformats.org/drawingml/2006/main">
              <a:ext uri="{FF2B5EF4-FFF2-40B4-BE49-F238E27FC236}">
                <a16:creationId xmlns:a16="http://schemas.microsoft.com/office/drawing/2014/main" id="{1990E1EA-934A-4F1C-B6BC-0B50A47A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SessionManager 让对话历史落盘并可追溯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23BBA63D-3F6D-4ABC-9850-8276D34C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ession-num-0">
            <a:extLst xmlns:a="http://schemas.openxmlformats.org/drawingml/2006/main">
              <a:ext uri="{FF2B5EF4-FFF2-40B4-BE49-F238E27FC236}">
                <a16:creationId xmlns:a16="http://schemas.microsoft.com/office/drawing/2014/main" id="{DB17F9C2-B072-468B-A536-23DB454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session-api-0">
            <a:extLst xmlns:a="http://schemas.openxmlformats.org/drawingml/2006/main">
              <a:ext uri="{FF2B5EF4-FFF2-40B4-BE49-F238E27FC236}">
                <a16:creationId xmlns:a16="http://schemas.microsoft.com/office/drawing/2014/main" id="{875AC711-3996-4079-B931-6FB459A8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SessionManager.create(cwd)</a:t>
            </a:r>
          </a:p>
        </p:txBody>
      </p:sp>
      <p:sp>
        <p:nvSpPr>
          <p:cNvPr id="5" name="session-desc-0">
            <a:extLst xmlns:a="http://schemas.openxmlformats.org/drawingml/2006/main">
              <a:ext uri="{FF2B5EF4-FFF2-40B4-BE49-F238E27FC236}">
                <a16:creationId xmlns:a16="http://schemas.microsoft.com/office/drawing/2014/main" id="{F883235B-1C3F-4B0B-B4CB-051CE8D7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93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确定会话持久化位置</a:t>
            </a:r>
          </a:p>
        </p:txBody>
      </p:sp>
      <p:sp>
        <p:nvSpPr>
          <p:cNvPr id="6" name="session-num-1">
            <a:extLst xmlns:a="http://schemas.openxmlformats.org/drawingml/2006/main">
              <a:ext uri="{FF2B5EF4-FFF2-40B4-BE49-F238E27FC236}">
                <a16:creationId xmlns:a16="http://schemas.microsoft.com/office/drawing/2014/main" id="{64C524BF-1539-42E6-AACE-FA7D0A3F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ession-api-1">
            <a:extLst xmlns:a="http://schemas.openxmlformats.org/drawingml/2006/main">
              <a:ext uri="{FF2B5EF4-FFF2-40B4-BE49-F238E27FC236}">
                <a16:creationId xmlns:a16="http://schemas.microsoft.com/office/drawing/2014/main" id="{C7B5B15D-8A70-4C7E-A2BB-265A3A9F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908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58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createAgentSession({ sessionManager })</a:t>
            </a:r>
          </a:p>
        </p:txBody>
      </p:sp>
      <p:sp>
        <p:nvSpPr>
          <p:cNvPr id="8" name="session-desc-1">
            <a:extLst xmlns:a="http://schemas.openxmlformats.org/drawingml/2006/main">
              <a:ext uri="{FF2B5EF4-FFF2-40B4-BE49-F238E27FC236}">
                <a16:creationId xmlns:a16="http://schemas.microsoft.com/office/drawing/2014/main" id="{AD40A72F-A2E6-4E20-9EE9-D0AB8BEB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把存储策略注入 Session</a:t>
            </a:r>
          </a:p>
        </p:txBody>
      </p:sp>
      <p:sp>
        <p:nvSpPr>
          <p:cNvPr id="9" name="session-num-2">
            <a:extLst xmlns:a="http://schemas.openxmlformats.org/drawingml/2006/main">
              <a:ext uri="{FF2B5EF4-FFF2-40B4-BE49-F238E27FC236}">
                <a16:creationId xmlns:a16="http://schemas.microsoft.com/office/drawing/2014/main" id="{1A06BF21-96EC-4FB8-B99C-79B3E957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ession-api-2">
            <a:extLst xmlns:a="http://schemas.openxmlformats.org/drawingml/2006/main">
              <a:ext uri="{FF2B5EF4-FFF2-40B4-BE49-F238E27FC236}">
                <a16:creationId xmlns:a16="http://schemas.microsoft.com/office/drawing/2014/main" id="{101C1D11-EADC-4545-BA22-92C0422E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session.sessionFile</a:t>
            </a:r>
          </a:p>
        </p:txBody>
      </p:sp>
      <p:sp>
        <p:nvSpPr>
          <p:cNvPr id="11" name="session-desc-2">
            <a:extLst xmlns:a="http://schemas.openxmlformats.org/drawingml/2006/main">
              <a:ext uri="{FF2B5EF4-FFF2-40B4-BE49-F238E27FC236}">
                <a16:creationId xmlns:a16="http://schemas.microsoft.com/office/drawing/2014/main" id="{3941437C-2335-4BCB-858F-5703AF5B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确认当前会话文件</a:t>
            </a:r>
          </a:p>
        </p:txBody>
      </p:sp>
      <p:sp>
        <p:nvSpPr>
          <p:cNvPr id="12" name="session-num-3">
            <a:extLst xmlns:a="http://schemas.openxmlformats.org/drawingml/2006/main">
              <a:ext uri="{FF2B5EF4-FFF2-40B4-BE49-F238E27FC236}">
                <a16:creationId xmlns:a16="http://schemas.microsoft.com/office/drawing/2014/main" id="{21EF8F20-B8EA-4593-B545-AD0CDF90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ession-api-3">
            <a:extLst xmlns:a="http://schemas.openxmlformats.org/drawingml/2006/main">
              <a:ext uri="{FF2B5EF4-FFF2-40B4-BE49-F238E27FC236}">
                <a16:creationId xmlns:a16="http://schemas.microsoft.com/office/drawing/2014/main" id="{761E5B82-19E3-44E9-9F94-C8640064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session.dispose()</a:t>
            </a:r>
          </a:p>
        </p:txBody>
      </p:sp>
      <p:sp>
        <p:nvSpPr>
          <p:cNvPr id="14" name="session-desc-3">
            <a:extLst xmlns:a="http://schemas.openxmlformats.org/drawingml/2006/main">
              <a:ext uri="{FF2B5EF4-FFF2-40B4-BE49-F238E27FC236}">
                <a16:creationId xmlns:a16="http://schemas.microsoft.com/office/drawing/2014/main" id="{766B1395-5743-45BA-A0E0-ABA4F175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结束运行并释放资源</a:t>
            </a:r>
          </a:p>
        </p:txBody>
      </p:sp>
      <p:sp>
        <p:nvSpPr>
          <p:cNvPr id="15" name="session-code-background">
            <a:extLst xmlns:a="http://schemas.openxmlformats.org/drawingml/2006/main">
              <a:ext uri="{FF2B5EF4-FFF2-40B4-BE49-F238E27FC236}">
                <a16:creationId xmlns:a16="http://schemas.microsoft.com/office/drawing/2014/main" id="{46FC851A-2C9D-4D9F-9369-9F22E0E6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66850"/>
            <a:ext cx="61912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16" name="session-code-caption">
            <a:extLst xmlns:a="http://schemas.openxmlformats.org/drawingml/2006/main">
              <a:ext uri="{FF2B5EF4-FFF2-40B4-BE49-F238E27FC236}">
                <a16:creationId xmlns:a16="http://schemas.microsoft.com/office/drawing/2014/main" id="{B903CEBA-EFD1-41DC-9508-F0D77E1A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19250"/>
            <a:ext cx="577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00-persistent-session.ts</a:t>
            </a:r>
          </a:p>
        </p:txBody>
      </p:sp>
      <p:sp>
        <p:nvSpPr>
          <p:cNvPr id="17" name="session-code">
            <a:extLst xmlns:a="http://schemas.openxmlformats.org/drawingml/2006/main">
              <a:ext uri="{FF2B5EF4-FFF2-40B4-BE49-F238E27FC236}">
                <a16:creationId xmlns:a16="http://schemas.microsoft.com/office/drawing/2014/main" id="{C2286E53-790B-4796-BB80-DB510F40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81200"/>
            <a:ext cx="57721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sessionManager =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SessionManager.create(process.cwd());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{ session } = await createAgentSession({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sessionManager,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console.log(session.sessionFile);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await session.prompt("Include 'checkpoint'.");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A7ABFA72-37ED-4F77-8A4B-51050D99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来源：examples/03-sessions/00-persistent-session.ts</a:t>
            </a:r>
          </a:p>
        </p:txBody>
      </p:sp>
    </p:spTree>
    <p:extLst>
      <p:ext uri="{BB962C8B-B14F-4D97-AF65-F5344CB8AC3E}">
        <p14:creationId xmlns:p14="http://schemas.microsoft.com/office/powerpoint/2010/main" val="1449159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4">
            <a:extLst xmlns:a="http://schemas.openxmlformats.org/drawingml/2006/main">
              <a:ext uri="{FF2B5EF4-FFF2-40B4-BE49-F238E27FC236}">
                <a16:creationId xmlns:a16="http://schemas.microsoft.com/office/drawing/2014/main" id="{AD62AAC4-DEEE-472D-B4C6-A7001E67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持久化让 Agent 的工作过程可以被管理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C5E8DF1B-3F4E-4399-B9EF-87A31773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value-card-0">
            <a:extLst xmlns:a="http://schemas.openxmlformats.org/drawingml/2006/main">
              <a:ext uri="{FF2B5EF4-FFF2-40B4-BE49-F238E27FC236}">
                <a16:creationId xmlns:a16="http://schemas.microsoft.com/office/drawing/2014/main" id="{8BBA4632-AB07-4C86-835C-748DF35A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31813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value-num-0">
            <a:extLst xmlns:a="http://schemas.openxmlformats.org/drawingml/2006/main">
              <a:ext uri="{FF2B5EF4-FFF2-40B4-BE49-F238E27FC236}">
                <a16:creationId xmlns:a16="http://schemas.microsoft.com/office/drawing/2014/main" id="{C2A28989-9D3B-4374-9801-58A39841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value-title-0">
            <a:extLst xmlns:a="http://schemas.openxmlformats.org/drawingml/2006/main">
              <a:ext uri="{FF2B5EF4-FFF2-40B4-BE49-F238E27FC236}">
                <a16:creationId xmlns:a16="http://schemas.microsoft.com/office/drawing/2014/main" id="{9C64F85E-1E04-4B4F-876F-68D48C9C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复盘</a:t>
            </a:r>
          </a:p>
        </p:txBody>
      </p:sp>
      <p:sp>
        <p:nvSpPr>
          <p:cNvPr id="6" name="value-body-0">
            <a:extLst xmlns:a="http://schemas.openxmlformats.org/drawingml/2006/main">
              <a:ext uri="{FF2B5EF4-FFF2-40B4-BE49-F238E27FC236}">
                <a16:creationId xmlns:a16="http://schemas.microsoft.com/office/drawing/2014/main" id="{B527F8E6-CAE8-479A-BBB4-9A02CABB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609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保留任务历史，解释结论如何产生；排查错误时不必依赖记忆。</a:t>
            </a:r>
          </a:p>
        </p:txBody>
      </p:sp>
      <p:sp>
        <p:nvSpPr>
          <p:cNvPr id="7" name="value-card-1">
            <a:extLst xmlns:a="http://schemas.openxmlformats.org/drawingml/2006/main">
              <a:ext uri="{FF2B5EF4-FFF2-40B4-BE49-F238E27FC236}">
                <a16:creationId xmlns:a16="http://schemas.microsoft.com/office/drawing/2014/main" id="{FF888A07-0263-43D3-864A-31D5EFFA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31813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value-num-1">
            <a:extLst xmlns:a="http://schemas.openxmlformats.org/drawingml/2006/main">
              <a:ext uri="{FF2B5EF4-FFF2-40B4-BE49-F238E27FC236}">
                <a16:creationId xmlns:a16="http://schemas.microsoft.com/office/drawing/2014/main" id="{B73C9B63-E7FB-4470-8926-AE98003E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value-title-1">
            <a:extLst xmlns:a="http://schemas.openxmlformats.org/drawingml/2006/main">
              <a:ext uri="{FF2B5EF4-FFF2-40B4-BE49-F238E27FC236}">
                <a16:creationId xmlns:a16="http://schemas.microsoft.com/office/drawing/2014/main" id="{7A6CE2C4-2D3E-4D28-BD5E-46AD892A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051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恢复</a:t>
            </a:r>
          </a:p>
        </p:txBody>
      </p:sp>
      <p:sp>
        <p:nvSpPr>
          <p:cNvPr id="10" name="value-body-1">
            <a:extLst xmlns:a="http://schemas.openxmlformats.org/drawingml/2006/main">
              <a:ext uri="{FF2B5EF4-FFF2-40B4-BE49-F238E27FC236}">
                <a16:creationId xmlns:a16="http://schemas.microsoft.com/office/drawing/2014/main" id="{942B7318-D06C-44F9-9E67-1D309871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62350"/>
            <a:ext cx="2609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进程中断后继续已有上下文，为长任务和异步工作奠定基础。</a:t>
            </a:r>
          </a:p>
        </p:txBody>
      </p:sp>
      <p:sp>
        <p:nvSpPr>
          <p:cNvPr id="11" name="value-card-2">
            <a:extLst xmlns:a="http://schemas.openxmlformats.org/drawingml/2006/main">
              <a:ext uri="{FF2B5EF4-FFF2-40B4-BE49-F238E27FC236}">
                <a16:creationId xmlns:a16="http://schemas.microsoft.com/office/drawing/2014/main" id="{C1BC0AD4-31A9-462F-A71E-97388F67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14500"/>
            <a:ext cx="31813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value-num-2">
            <a:extLst xmlns:a="http://schemas.openxmlformats.org/drawingml/2006/main">
              <a:ext uri="{FF2B5EF4-FFF2-40B4-BE49-F238E27FC236}">
                <a16:creationId xmlns:a16="http://schemas.microsoft.com/office/drawing/2014/main" id="{43E5150C-C1C4-4B9A-9A7D-6580FB73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value-title-2">
            <a:extLst xmlns:a="http://schemas.openxmlformats.org/drawingml/2006/main">
              <a:ext uri="{FF2B5EF4-FFF2-40B4-BE49-F238E27FC236}">
                <a16:creationId xmlns:a16="http://schemas.microsoft.com/office/drawing/2014/main" id="{FA1C6ED6-FD47-43FE-8889-8FC6C6AC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分支</a:t>
            </a:r>
          </a:p>
        </p:txBody>
      </p:sp>
      <p:sp>
        <p:nvSpPr>
          <p:cNvPr id="14" name="value-body-2">
            <a:extLst xmlns:a="http://schemas.openxmlformats.org/drawingml/2006/main">
              <a:ext uri="{FF2B5EF4-FFF2-40B4-BE49-F238E27FC236}">
                <a16:creationId xmlns:a16="http://schemas.microsoft.com/office/drawing/2014/main" id="{0F45636A-1F15-4FAD-8BD1-039959C4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62350"/>
            <a:ext cx="2609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在同一历史节点探索不同方案，而不是覆盖原有推理路径。</a:t>
            </a:r>
          </a:p>
        </p:txBody>
      </p:sp>
      <p:sp>
        <p:nvSpPr>
          <p:cNvPr id="15" name="value-scope">
            <a:extLst xmlns:a="http://schemas.openxmlformats.org/drawingml/2006/main">
              <a:ext uri="{FF2B5EF4-FFF2-40B4-BE49-F238E27FC236}">
                <a16:creationId xmlns:a16="http://schemas.microsoft.com/office/drawing/2014/main" id="{FE2A2984-5963-40EB-BF3F-850F665E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045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当前示例直接演示落盘；恢复与分支是持久化之后可构建的工作流能力。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D2951349-4A6B-4126-A235-FB97DAA6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来源：examples/03-sessions/演讲稿.md</a:t>
            </a:r>
          </a:p>
        </p:txBody>
      </p:sp>
    </p:spTree>
    <p:extLst>
      <p:ext uri="{BB962C8B-B14F-4D97-AF65-F5344CB8AC3E}">
        <p14:creationId xmlns:p14="http://schemas.microsoft.com/office/powerpoint/2010/main" val="79822390"/>
      </p:ext>
    </p:extLst>
  </p:cSld>
</p:sld>
</file>

<file path=ppt/slides/slide5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5">
            <a:extLst xmlns:a="http://schemas.openxmlformats.org/drawingml/2006/main">
              <a:ext uri="{FF2B5EF4-FFF2-40B4-BE49-F238E27FC236}">
                <a16:creationId xmlns:a16="http://schemas.microsoft.com/office/drawing/2014/main" id="{3EFCE671-4699-45C0-BB97-34480E61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Extension 在 Agent 生命周期中挂接行为，而不改动核心循环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456FC61B-C23F-4F07-9BF6-C88FC74B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extension-arrow-0">
            <a:extLst xmlns:a="http://schemas.openxmlformats.org/drawingml/2006/main">
              <a:ext uri="{FF2B5EF4-FFF2-40B4-BE49-F238E27FC236}">
                <a16:creationId xmlns:a16="http://schemas.microsoft.com/office/drawing/2014/main" id="{A87645D6-96AD-405D-A3F4-49897301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38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" name="extension-arrow-1">
            <a:extLst xmlns:a="http://schemas.openxmlformats.org/drawingml/2006/main">
              <a:ext uri="{FF2B5EF4-FFF2-40B4-BE49-F238E27FC236}">
                <a16:creationId xmlns:a16="http://schemas.microsoft.com/office/drawing/2014/main" id="{9610DF07-3398-4CA8-8993-269BD5CC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extension-arrow-2">
            <a:extLst xmlns:a="http://schemas.openxmlformats.org/drawingml/2006/main">
              <a:ext uri="{FF2B5EF4-FFF2-40B4-BE49-F238E27FC236}">
                <a16:creationId xmlns:a16="http://schemas.microsoft.com/office/drawing/2014/main" id="{8B9D133E-21D8-4C0D-B7EA-B10BFDFA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38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extension-arrow-3">
            <a:extLst xmlns:a="http://schemas.openxmlformats.org/drawingml/2006/main">
              <a:ext uri="{FF2B5EF4-FFF2-40B4-BE49-F238E27FC236}">
                <a16:creationId xmlns:a16="http://schemas.microsoft.com/office/drawing/2014/main" id="{43F75363-0961-4969-9B3E-CF3C9490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extension-node-0">
            <a:extLst xmlns:a="http://schemas.openxmlformats.org/drawingml/2006/main">
              <a:ext uri="{FF2B5EF4-FFF2-40B4-BE49-F238E27FC236}">
                <a16:creationId xmlns:a16="http://schemas.microsoft.com/office/drawing/2014/main" id="{D9C310A9-186B-402C-B7BA-0736BCB3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866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extension-title-0">
            <a:extLst xmlns:a="http://schemas.openxmlformats.org/drawingml/2006/main">
              <a:ext uri="{FF2B5EF4-FFF2-40B4-BE49-F238E27FC236}">
                <a16:creationId xmlns:a16="http://schemas.microsoft.com/office/drawing/2014/main" id="{FC1B8AE6-7632-41D8-9F75-2E9B7201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ResourceLoader</a:t>
            </a:r>
          </a:p>
        </p:txBody>
      </p:sp>
      <p:sp>
        <p:nvSpPr>
          <p:cNvPr id="9" name="extension-body-0">
            <a:extLst xmlns:a="http://schemas.openxmlformats.org/drawingml/2006/main">
              <a:ext uri="{FF2B5EF4-FFF2-40B4-BE49-F238E27FC236}">
                <a16:creationId xmlns:a16="http://schemas.microsoft.com/office/drawing/2014/main" id="{B78B3D83-148A-448B-B7D6-B45C1D6C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集中配置扩展工厂</a:t>
            </a:r>
          </a:p>
        </p:txBody>
      </p:sp>
      <p:sp>
        <p:nvSpPr>
          <p:cNvPr id="10" name="extension-node-1">
            <a:extLst xmlns:a="http://schemas.openxmlformats.org/drawingml/2006/main">
              <a:ext uri="{FF2B5EF4-FFF2-40B4-BE49-F238E27FC236}">
                <a16:creationId xmlns:a16="http://schemas.microsoft.com/office/drawing/2014/main" id="{AE9E4F85-EAC6-4E44-912A-282F4D0A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1866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extension-title-1">
            <a:extLst xmlns:a="http://schemas.openxmlformats.org/drawingml/2006/main">
              <a:ext uri="{FF2B5EF4-FFF2-40B4-BE49-F238E27FC236}">
                <a16:creationId xmlns:a16="http://schemas.microsoft.com/office/drawing/2014/main" id="{ED126A80-1541-4B34-82B6-CA3D3E08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79"/>
          </a:bodyPr>
          <a:lstStyle xmlns:a="http://schemas.openxmlformats.org/drawingml/2006/main"/>
          <a:p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Extension</a:t>
            </a:r>
          </a:p>
          <a:p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Factory</a:t>
            </a:r>
          </a:p>
        </p:txBody>
      </p:sp>
      <p:sp>
        <p:nvSpPr>
          <p:cNvPr id="12" name="extension-body-1">
            <a:extLst xmlns:a="http://schemas.openxmlformats.org/drawingml/2006/main">
              <a:ext uri="{FF2B5EF4-FFF2-40B4-BE49-F238E27FC236}">
                <a16:creationId xmlns:a16="http://schemas.microsoft.com/office/drawing/2014/main" id="{E8534B4B-9371-450C-96A2-CA49C718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432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接收 pi 运行时对象</a:t>
            </a:r>
          </a:p>
        </p:txBody>
      </p:sp>
      <p:sp>
        <p:nvSpPr>
          <p:cNvPr id="13" name="extension-node-2">
            <a:extLst xmlns:a="http://schemas.openxmlformats.org/drawingml/2006/main">
              <a:ext uri="{FF2B5EF4-FFF2-40B4-BE49-F238E27FC236}">
                <a16:creationId xmlns:a16="http://schemas.microsoft.com/office/drawing/2014/main" id="{BC104DBB-2E82-4B97-863B-AC07E5A0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05050"/>
            <a:ext cx="1866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extension-title-2">
            <a:extLst xmlns:a="http://schemas.openxmlformats.org/drawingml/2006/main">
              <a:ext uri="{FF2B5EF4-FFF2-40B4-BE49-F238E27FC236}">
                <a16:creationId xmlns:a16="http://schemas.microsoft.com/office/drawing/2014/main" id="{57F5A7D6-8450-4713-9571-8506A34D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98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pi.on(...)</a:t>
            </a:r>
          </a:p>
        </p:txBody>
      </p:sp>
      <p:sp>
        <p:nvSpPr>
          <p:cNvPr id="15" name="extension-body-2">
            <a:extLst xmlns:a="http://schemas.openxmlformats.org/drawingml/2006/main">
              <a:ext uri="{FF2B5EF4-FFF2-40B4-BE49-F238E27FC236}">
                <a16:creationId xmlns:a16="http://schemas.microsoft.com/office/drawing/2014/main" id="{4AE46303-1144-4DD2-A77C-F18AB9CA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432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订阅生命周期事件</a:t>
            </a:r>
          </a:p>
        </p:txBody>
      </p:sp>
      <p:sp>
        <p:nvSpPr>
          <p:cNvPr id="16" name="extension-node-3">
            <a:extLst xmlns:a="http://schemas.openxmlformats.org/drawingml/2006/main">
              <a:ext uri="{FF2B5EF4-FFF2-40B4-BE49-F238E27FC236}">
                <a16:creationId xmlns:a16="http://schemas.microsoft.com/office/drawing/2014/main" id="{7D5C70C1-EE42-4FCD-9307-113A1EBC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05050"/>
            <a:ext cx="1866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extension-title-3">
            <a:extLst xmlns:a="http://schemas.openxmlformats.org/drawingml/2006/main">
              <a:ext uri="{FF2B5EF4-FFF2-40B4-BE49-F238E27FC236}">
                <a16:creationId xmlns:a16="http://schemas.microsoft.com/office/drawing/2014/main" id="{51E190FE-E337-4CA7-BCBB-99EAA752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098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loader.reload()</a:t>
            </a:r>
          </a:p>
        </p:txBody>
      </p:sp>
      <p:sp>
        <p:nvSpPr>
          <p:cNvPr id="18" name="extension-body-3">
            <a:extLst xmlns:a="http://schemas.openxmlformats.org/drawingml/2006/main">
              <a:ext uri="{FF2B5EF4-FFF2-40B4-BE49-F238E27FC236}">
                <a16:creationId xmlns:a16="http://schemas.microsoft.com/office/drawing/2014/main" id="{CAC23C4B-6527-4AB5-8D91-15ABE8B3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432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加载扩展配置</a:t>
            </a:r>
          </a:p>
        </p:txBody>
      </p:sp>
      <p:sp>
        <p:nvSpPr>
          <p:cNvPr id="19" name="extension-node-4">
            <a:extLst xmlns:a="http://schemas.openxmlformats.org/drawingml/2006/main">
              <a:ext uri="{FF2B5EF4-FFF2-40B4-BE49-F238E27FC236}">
                <a16:creationId xmlns:a16="http://schemas.microsoft.com/office/drawing/2014/main" id="{24C8B963-6D1F-4094-B292-BA6799D4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05050"/>
            <a:ext cx="1866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extension-title-4">
            <a:extLst xmlns:a="http://schemas.openxmlformats.org/drawingml/2006/main">
              <a:ext uri="{FF2B5EF4-FFF2-40B4-BE49-F238E27FC236}">
                <a16:creationId xmlns:a16="http://schemas.microsoft.com/office/drawing/2014/main" id="{5FF91A72-7ADF-4766-9AC5-A75725D9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098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1" name="extension-body-4">
            <a:extLst xmlns:a="http://schemas.openxmlformats.org/drawingml/2006/main">
              <a:ext uri="{FF2B5EF4-FFF2-40B4-BE49-F238E27FC236}">
                <a16:creationId xmlns:a16="http://schemas.microsoft.com/office/drawing/2014/main" id="{AC7E19C7-4D82-4B45-A23C-52058860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运行时触发回调</a:t>
            </a:r>
          </a:p>
        </p:txBody>
      </p:sp>
      <p:sp>
        <p:nvSpPr>
          <p:cNvPr id="22" name="extension-code-background">
            <a:extLst xmlns:a="http://schemas.openxmlformats.org/drawingml/2006/main">
              <a:ext uri="{FF2B5EF4-FFF2-40B4-BE49-F238E27FC236}">
                <a16:creationId xmlns:a16="http://schemas.microsoft.com/office/drawing/2014/main" id="{9B9D7CB8-5D45-459A-8FCC-A709EB2A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7239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23" name="extension-code-caption">
            <a:extLst xmlns:a="http://schemas.openxmlformats.org/drawingml/2006/main">
              <a:ext uri="{FF2B5EF4-FFF2-40B4-BE49-F238E27FC236}">
                <a16:creationId xmlns:a16="http://schemas.microsoft.com/office/drawing/2014/main" id="{FCF776D5-0596-45EB-95B8-82147EFA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38650"/>
            <a:ext cx="681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DCBF4"/>
                </a:solidFill>
                <a:latin typeface="Menlo"/>
                <a:ea typeface="Menlo"/>
                <a:cs typeface="Menlo"/>
              </a:rPr>
              <a:t>00-inline-extension.ts</a:t>
            </a:r>
          </a:p>
        </p:txBody>
      </p:sp>
      <p:sp>
        <p:nvSpPr>
          <p:cNvPr id="24" name="extension-code">
            <a:extLst xmlns:a="http://schemas.openxmlformats.org/drawingml/2006/main">
              <a:ext uri="{FF2B5EF4-FFF2-40B4-BE49-F238E27FC236}">
                <a16:creationId xmlns:a16="http://schemas.microsoft.com/office/drawing/2014/main" id="{39865CFD-0219-4606-9759-D0D83FB0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00600"/>
            <a:ext cx="681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6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extensionFactories: [(pi) =&gt; {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pi.on("agent_start", () =&gt; {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console.log("[demo-logger] agent_start");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});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}]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28A33E19-04EC-4160-AD98-8CAD9AB8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来源：examples/04-extensibility/00-inline-extension.ts</a:t>
            </a:r>
          </a:p>
        </p:txBody>
      </p:sp>
    </p:spTree>
    <p:extLst>
      <p:ext uri="{BB962C8B-B14F-4D97-AF65-F5344CB8AC3E}">
        <p14:creationId xmlns:p14="http://schemas.microsoft.com/office/powerpoint/2010/main" val="1627770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6">
            <a:extLst xmlns:a="http://schemas.openxmlformats.org/drawingml/2006/main">
              <a:ext uri="{FF2B5EF4-FFF2-40B4-BE49-F238E27FC236}">
                <a16:creationId xmlns:a16="http://schemas.microsoft.com/office/drawing/2014/main" id="{AEE3FB4E-F748-4E37-AA59-FCD04B83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Tool、Skill 与 Extension 解决的是不同层级的问题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FF72731F-D68B-4DAD-9D1F-C74AEC0D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boundary-col-0">
            <a:extLst xmlns:a="http://schemas.openxmlformats.org/drawingml/2006/main">
              <a:ext uri="{FF2B5EF4-FFF2-40B4-BE49-F238E27FC236}">
                <a16:creationId xmlns:a16="http://schemas.microsoft.com/office/drawing/2014/main" id="{BAEC9495-6837-44F9-8A48-24EAFF19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31813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-label-0">
            <a:extLst xmlns:a="http://schemas.openxmlformats.org/drawingml/2006/main">
              <a:ext uri="{FF2B5EF4-FFF2-40B4-BE49-F238E27FC236}">
                <a16:creationId xmlns:a16="http://schemas.microsoft.com/office/drawing/2014/main" id="{81FE553A-96A7-4CB2-8C9E-86DFF33C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5" name="boundary-title-0">
            <a:extLst xmlns:a="http://schemas.openxmlformats.org/drawingml/2006/main">
              <a:ext uri="{FF2B5EF4-FFF2-40B4-BE49-F238E27FC236}">
                <a16:creationId xmlns:a16="http://schemas.microsoft.com/office/drawing/2014/main" id="{E3B7BDB8-CA97-4BD2-B6A4-5ECA6F99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让模型调用能力</a:t>
            </a:r>
          </a:p>
        </p:txBody>
      </p:sp>
      <p:sp>
        <p:nvSpPr>
          <p:cNvPr id="6" name="boundary-body-0">
            <a:extLst xmlns:a="http://schemas.openxmlformats.org/drawingml/2006/main">
              <a:ext uri="{FF2B5EF4-FFF2-40B4-BE49-F238E27FC236}">
                <a16:creationId xmlns:a16="http://schemas.microsoft.com/office/drawing/2014/main" id="{DBE4F67F-9BFD-480A-B69B-B4C7CC6C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6479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面向一次具体动作</a:t>
            </a:r>
          </a:p>
          <a:p xmlns:a="http://schemas.openxmlformats.org/drawingml/2006/main">
            <a:pPr algn="l">
              <a:defRPr sz="16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有参数与返回值</a:t>
            </a:r>
          </a:p>
          <a:p xmlns:a="http://schemas.openxmlformats.org/drawingml/2006/main">
            <a:pPr algn="l">
              <a:defRPr sz="16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例如读取文件、查询时间</a:t>
            </a:r>
          </a:p>
        </p:txBody>
      </p:sp>
      <p:sp>
        <p:nvSpPr>
          <p:cNvPr id="7" name="boundary-col-1">
            <a:extLst xmlns:a="http://schemas.openxmlformats.org/drawingml/2006/main">
              <a:ext uri="{FF2B5EF4-FFF2-40B4-BE49-F238E27FC236}">
                <a16:creationId xmlns:a16="http://schemas.microsoft.com/office/drawing/2014/main" id="{14B056D9-5E18-4689-9D7D-C46AABE8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31813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-1">
            <a:extLst xmlns:a="http://schemas.openxmlformats.org/drawingml/2006/main">
              <a:ext uri="{FF2B5EF4-FFF2-40B4-BE49-F238E27FC236}">
                <a16:creationId xmlns:a16="http://schemas.microsoft.com/office/drawing/2014/main" id="{742294D1-EE0A-4238-B669-32E22DD9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62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SKILL</a:t>
            </a:r>
          </a:p>
        </p:txBody>
      </p:sp>
      <p:sp>
        <p:nvSpPr>
          <p:cNvPr id="9" name="boundary-title-1">
            <a:extLst xmlns:a="http://schemas.openxmlformats.org/drawingml/2006/main">
              <a:ext uri="{FF2B5EF4-FFF2-40B4-BE49-F238E27FC236}">
                <a16:creationId xmlns:a16="http://schemas.microsoft.com/office/drawing/2014/main" id="{54C93368-3E22-4890-B91E-80955988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9080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让任务遵循方法</a:t>
            </a:r>
          </a:p>
        </p:txBody>
      </p:sp>
      <p:sp>
        <p:nvSpPr>
          <p:cNvPr id="10" name="boundary-body-1">
            <a:extLst xmlns:a="http://schemas.openxmlformats.org/drawingml/2006/main">
              <a:ext uri="{FF2B5EF4-FFF2-40B4-BE49-F238E27FC236}">
                <a16:creationId xmlns:a16="http://schemas.microsoft.com/office/drawing/2014/main" id="{41598906-AD43-40F2-B39C-7D4AD177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6479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面向一类工作流程</a:t>
            </a:r>
          </a:p>
          <a:p xmlns:a="http://schemas.openxmlformats.org/drawingml/2006/main">
            <a:pPr algn="l">
              <a:defRPr sz="16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承载知识与规范</a:t>
            </a:r>
          </a:p>
          <a:p xmlns:a="http://schemas.openxmlformats.org/drawingml/2006/main">
            <a:pPr algn="l">
              <a:defRPr sz="16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例如报告、分析、发布流程</a:t>
            </a:r>
          </a:p>
        </p:txBody>
      </p:sp>
      <p:sp>
        <p:nvSpPr>
          <p:cNvPr id="11" name="boundary-col-2">
            <a:extLst xmlns:a="http://schemas.openxmlformats.org/drawingml/2006/main">
              <a:ext uri="{FF2B5EF4-FFF2-40B4-BE49-F238E27FC236}">
                <a16:creationId xmlns:a16="http://schemas.microsoft.com/office/drawing/2014/main" id="{54C1F112-B646-443B-BBB3-3B0FA60E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57350"/>
            <a:ext cx="31813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undary-label-2">
            <a:extLst xmlns:a="http://schemas.openxmlformats.org/drawingml/2006/main">
              <a:ext uri="{FF2B5EF4-FFF2-40B4-BE49-F238E27FC236}">
                <a16:creationId xmlns:a16="http://schemas.microsoft.com/office/drawing/2014/main" id="{6F546134-6CB4-4EFB-95D0-21C0D961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EXTENSION</a:t>
            </a:r>
          </a:p>
        </p:txBody>
      </p:sp>
      <p:sp>
        <p:nvSpPr>
          <p:cNvPr id="13" name="boundary-title-2">
            <a:extLst xmlns:a="http://schemas.openxmlformats.org/drawingml/2006/main">
              <a:ext uri="{FF2B5EF4-FFF2-40B4-BE49-F238E27FC236}">
                <a16:creationId xmlns:a16="http://schemas.microsoft.com/office/drawing/2014/main" id="{4E54424D-D0C3-46E2-AC93-140E9B67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9080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让运行时改变行为</a:t>
            </a:r>
          </a:p>
        </p:txBody>
      </p:sp>
      <p:sp>
        <p:nvSpPr>
          <p:cNvPr id="14" name="boundary-body-2">
            <a:extLst xmlns:a="http://schemas.openxmlformats.org/drawingml/2006/main">
              <a:ext uri="{FF2B5EF4-FFF2-40B4-BE49-F238E27FC236}">
                <a16:creationId xmlns:a16="http://schemas.microsoft.com/office/drawing/2014/main" id="{84FFF99B-896A-47B8-8428-07C741C8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33800"/>
            <a:ext cx="26479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面向生命周期与宿主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监听事件、注册能力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例如日志、策略、集成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211D32CC-6002-4F87-8C52-6D7A2E16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来源：examples/04-extensibility/演讲稿.md</a:t>
            </a:r>
          </a:p>
        </p:txBody>
      </p:sp>
    </p:spTree>
    <p:extLst>
      <p:ext uri="{BB962C8B-B14F-4D97-AF65-F5344CB8AC3E}">
        <p14:creationId xmlns:p14="http://schemas.microsoft.com/office/powerpoint/2010/main" val="99504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F0BDB0C2-25E6-4314-A300-387F6181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下一步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8D6DE84-1466-47A9-BD08-C4536B8F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先让任务可以恢复，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再让能力可以插拔。</a:t>
            </a:r>
          </a:p>
        </p:txBody>
      </p:sp>
      <p:sp>
        <p:nvSpPr>
          <p:cNvPr id="3" name="close-num-0">
            <a:extLst xmlns:a="http://schemas.openxmlformats.org/drawingml/2006/main">
              <a:ext uri="{FF2B5EF4-FFF2-40B4-BE49-F238E27FC236}">
                <a16:creationId xmlns:a16="http://schemas.microsoft.com/office/drawing/2014/main" id="{CB3450AF-EA00-4E20-BE84-E37287ED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close-command-0">
            <a:extLst xmlns:a="http://schemas.openxmlformats.org/drawingml/2006/main">
              <a:ext uri="{FF2B5EF4-FFF2-40B4-BE49-F238E27FC236}">
                <a16:creationId xmlns:a16="http://schemas.microsoft.com/office/drawing/2014/main" id="{7A6640E2-F8B6-4F49-8CA3-EC95F538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pnpm example:sessions</a:t>
            </a:r>
          </a:p>
        </p:txBody>
      </p:sp>
      <p:sp>
        <p:nvSpPr>
          <p:cNvPr id="5" name="close-desc-0">
            <a:extLst xmlns:a="http://schemas.openxmlformats.org/drawingml/2006/main">
              <a:ext uri="{FF2B5EF4-FFF2-40B4-BE49-F238E27FC236}">
                <a16:creationId xmlns:a16="http://schemas.microsoft.com/office/drawing/2014/main" id="{8A54C594-45D3-4359-B8A0-848C56DE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观察 Session 文件与 checkpoint</a:t>
            </a:r>
          </a:p>
        </p:txBody>
      </p:sp>
      <p:sp>
        <p:nvSpPr>
          <p:cNvPr id="6" name="close-num-1">
            <a:extLst xmlns:a="http://schemas.openxmlformats.org/drawingml/2006/main">
              <a:ext uri="{FF2B5EF4-FFF2-40B4-BE49-F238E27FC236}">
                <a16:creationId xmlns:a16="http://schemas.microsoft.com/office/drawing/2014/main" id="{AE30CC20-AE9C-46DA-8E8F-115159B3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close-command-1">
            <a:extLst xmlns:a="http://schemas.openxmlformats.org/drawingml/2006/main">
              <a:ext uri="{FF2B5EF4-FFF2-40B4-BE49-F238E27FC236}">
                <a16:creationId xmlns:a16="http://schemas.microsoft.com/office/drawing/2014/main" id="{B35E35FF-681D-402E-9CEC-AF217FC2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pnpm example:extension</a:t>
            </a:r>
          </a:p>
        </p:txBody>
      </p:sp>
      <p:sp>
        <p:nvSpPr>
          <p:cNvPr id="8" name="close-desc-1">
            <a:extLst xmlns:a="http://schemas.openxmlformats.org/drawingml/2006/main">
              <a:ext uri="{FF2B5EF4-FFF2-40B4-BE49-F238E27FC236}">
                <a16:creationId xmlns:a16="http://schemas.microsoft.com/office/drawing/2014/main" id="{8F65CAEC-E522-4C0A-B3FD-1E93C34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434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观察 agent_start 扩展日志</a:t>
            </a:r>
          </a:p>
        </p:txBody>
      </p:sp>
      <p:sp>
        <p:nvSpPr>
          <p:cNvPr id="9" name="close-num-2">
            <a:extLst xmlns:a="http://schemas.openxmlformats.org/drawingml/2006/main">
              <a:ext uri="{FF2B5EF4-FFF2-40B4-BE49-F238E27FC236}">
                <a16:creationId xmlns:a16="http://schemas.microsoft.com/office/drawing/2014/main" id="{A502542E-635C-4F50-BED2-F277FEE3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close-command-2">
            <a:extLst xmlns:a="http://schemas.openxmlformats.org/drawingml/2006/main">
              <a:ext uri="{FF2B5EF4-FFF2-40B4-BE49-F238E27FC236}">
                <a16:creationId xmlns:a16="http://schemas.microsoft.com/office/drawing/2014/main" id="{A7BC92B0-F938-40C7-8254-484EE5A2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组合实践</a:t>
            </a:r>
          </a:p>
        </p:txBody>
      </p:sp>
      <p:sp>
        <p:nvSpPr>
          <p:cNvPr id="11" name="close-desc-2">
            <a:extLst xmlns:a="http://schemas.openxmlformats.org/drawingml/2006/main">
              <a:ext uri="{FF2B5EF4-FFF2-40B4-BE49-F238E27FC236}">
                <a16:creationId xmlns:a16="http://schemas.microsoft.com/office/drawing/2014/main" id="{88642C5A-9171-4CC4-885A-B83A0B98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48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A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A76"/>
                </a:solidFill>
                <a:latin typeface="Arial"/>
                <a:ea typeface="Arial"/>
                <a:cs typeface="Arial"/>
              </a:rPr>
              <a:t>为持久会话增加审计或观测扩展</a:t>
            </a:r>
          </a:p>
        </p:txBody>
      </p:sp>
      <p:sp>
        <p:nvSpPr>
          <p:cNvPr id="12" name="close-band">
            <a:extLst xmlns:a="http://schemas.openxmlformats.org/drawingml/2006/main">
              <a:ext uri="{FF2B5EF4-FFF2-40B4-BE49-F238E27FC236}">
                <a16:creationId xmlns:a16="http://schemas.microsoft.com/office/drawing/2014/main" id="{7E8E7926-4F2D-4D1E-80CF-4C16F3B3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strap">
            <a:extLst xmlns:a="http://schemas.openxmlformats.org/drawingml/2006/main">
              <a:ext uri="{FF2B5EF4-FFF2-40B4-BE49-F238E27FC236}">
                <a16:creationId xmlns:a16="http://schemas.microsoft.com/office/drawing/2014/main" id="{112DF832-53C0-4805-9FD9-6CBA5AA0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076450"/>
            <a:ext cx="11239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可追溯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可恢复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可扩展</a:t>
            </a:r>
          </a:p>
        </p:txBody>
      </p:sp>
    </p:spTree>
    <p:extLst>
      <p:ext uri="{BB962C8B-B14F-4D97-AF65-F5344CB8AC3E}">
        <p14:creationId xmlns:p14="http://schemas.microsoft.com/office/powerpoint/2010/main" val="1277424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2026-08-17T18:00:31.7060000Z</dcterms:created>
  <dcterms:modified xsi:type="dcterms:W3CDTF">2026-08-17T18:00:31.7060000Z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2026-08-17T18:02:48Z</vt:lpwstr>
  </op:property>
</op:Properties>
</file>